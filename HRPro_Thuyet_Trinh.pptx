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425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40 giây.
Lời thoại: Em xin chào thầy/cô. Em là Nguyễn Văn Minh, mã sinh viên 23010778. Hôm nay em trình bày đề tài Phát triển ứng dụng web quản lý nhân sự cho doanh nghiệp, với sản phẩm demo HRPro.
Hành động: Đứng thẳng, chào hội đồng, nhìn vào slide tiêu đề. Không cần đi sâu chức năng ở slide này; chỉ nêu tên đề tài và định hướng hệ thống.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Lời thoại: Trước khi xây dựng HRPro, em xác định bài toán là nhiều doanh nghiệp nhỏ vẫn quản lý nhân sự bằng Excel hoặc giấy tờ. Cách này dễ sai dữ liệu, khó phân quyền và khó tính lương tự động. Vì vậy mục tiêu của đồ án là xây dựng một ứng dụng web gọn nhẹ, có các nghiệp vụ cơ bản của HRM và chạy được ngay trên trình duyệt.
Hành động: Chỉ lần lượt vào ba thẻ vấn đề ở phía trên, sau đó chuyển tay xuống phần mục tiêu sản phẩm.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Lời thoại: Về phạm vi, HRPro có các chức năng cốt lõi: Dashboard, quản lý nhân viên, phòng ban, ca làm, chấm công, tính lương, KPI và báo cáo CSV. Hệ thống có 5 vai trò: Admin, HR, Kế toán, Quản lý và Nhân viên. Tùy vai trò, giao diện sẽ ẩn hoặc hiện các chức năng phù hợp.
Hành động: Khi nói đến vai trò, chỉ hàng chip ở dưới để hội đồng thấy rõ sự phân quyền.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Lời thoại: Kiến trúc của hệ thống là frontend SPA. index.html giữ cấu trúc giao diện, style.css chịu trách nhiệm về bố cục và giao diện, còn app.js xử lý nghiệp vụ. Dữ liệu được lưu bằng localStorage để khi tải lại trang, dữ liệu chỉnh sửa vẫn còn. Với phạm vi đồ án, cách này giúp demo nhanh và dễ kiểm thử.
Hành động: Chỉ vào sơ đồ bên trái, đi từ trên xuống dưới. Sau đó nói thêm về ưu điểm ở ô màu xanh.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65 giây.
Lời thoại: Đây là phần cập nhật quan trọng nhất so với thiết kế ban đầu. Trước đây ca làm việc được đặt ngay trong Employee dưới dạng một trường shift. Thiết kế này chưa tốt vì một nhân viên có thể làm nhiều ca. Vì vậy em tách thành bảng employeeShifts, liên kết empId và shiftCode. Attendance cũng được chuyển từ một bản ghi đơn thành mảng record theo từng ca trong ngày.
Hành động: Dừng 2 giây ở slide này. Chỉ vào Employee, sau đó kéo sang employeeShifts và Shift. Nhấn mạnh đây là thay đổi giúp hệ thống scale tốt hơn.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Lời thoại: Về phía giao diện, người dùng vẫn thao tác trong form nhân viên. Điểm khác là trường ca làm việc chuyển thành multi-select, cho phép chọn nhiều ca. Khi lưu, dữ liệu không ghi vào Employee nữa mà ghi vào DB.employeeShifts. Để đảm bảo dữ liệu demo cũ không bị lỗi, hàm migrateDB sẽ tự chuyển đổi dữ liệu cũ sang cấu trúc mới.
Hành động: Đi theo timeline 1 đến 4. Nếu có mở demo, thao tác nhanh: vào Nhân viên, bấm sửa một nhân viên, chỉ vào trường Ca làm việc dạng multi-select.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65 giây.
Lời thoại: Phần chấm công cũng được cập nhật theo cấu trúc mới. Mỗi nhân viên trong một ngày có thể có nhiều record, mỗi record gắn với một ca. Hệ thống tính trạng thái dựa vào giờ vào, giờ ra, giờ bắt đầu/kết thúc ca và thời gian cho phép muộn. Khi bấm Chi tiết, người dùng thấy rõ ca áp dụng, giờ ca, số phút đi muộn hoặc về sớm.
Hành động: Chỉ bảng mock bên trái, sau đó chỉ ô Đi muộn 15 phút. Nếu demo trực tiếp, vào Chấm công, bấm Chi tiết ở một dòng để show modal.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Lời thoại: Sau khi có dữ liệu chấm công, hệ thống sử dụng để tính lương theo tháng. Công thức gồm lương cơ bản theo công thực tế, phụ cấp, khấu trừ đi muộn/vắng, bảo hiểm, thuế và thưởng phạt. KPI được chấm theo nhiều tiêu chí có trọng số. Ngoài ra các dữ liệu chính đều có thể xuất CSV để phục vụ báo cáo.
Hành động: Chỉ lần lượt 3 cột: Tính lương, KPI, Báo cáo. Khi nói đến chốt lương, nhấn mạnh vai trò Kế toán/Admin.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Lời thoại: Về giao diện, HRPro đi theo phong cách dashboard gồm sidebar, header, card thống kê, bảng dữ liệu và modal. CSS vẫn là CSS thuần nhưng được tổ chức theo các class tái sử dụng như btn, card, badge, grid và modal, lấy tinh thần Bootstrap/Tailwind để code gọn hơn và dễ bảo trì.
Hành động: Chỉ hình mô phỏng UI bên trái. Sau đó chỉ danh sách utility bên phải. Không cần đọc từng class.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Lời thoại: Hoạt động kiểm thử được thực hiện theo các test case chính trong báo cáo. Em kiểm thử đăng nhập, phân quyền, CRUD, phân ca nhiều lựa chọn, chấm công chi tiết, tính lương, KPI và xuất CSV. Kết quả là hệ thống chạy được với dữ liệu mẫu gồm 25 nhân viên, 5 phòng ban, 4 ca làm việc và đã được cập nhật lên GitHub.
Hành động: Không đọc hết bảng kiểm thử. Chọn 2 test quan trọng để nhấn mạnh: multi-select ca và chấm công chi tiết.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Lời thoại: Vì đây là đồ án cơ sở ngành, hệ thống hiện là frontend demo nên chưa có backend, cơ sở dữ liệu thật và bảo mật cấp sản phẩm. Nếu phát triển tiếp, hướng phù hợp là xây dựng REST API bằng Node.js/Express, dùng MySQL hoặc MongoDB, xác thực JWT, phân quyền phía server, bổ sung nhập/xuất Excel và tích hợp máy chấm công.
Hành động: Nói thẳng hạn chế, không né tránh. Sau đó chuyển sang hướng phát triển để thể hiện khả năng mở rộng.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40 giây.
Lời thoại: Tóm lại, HRPro đã đáp ứng mục tiêu của đồ án: có giao diện trực quan, bao quát các nghiệp vụ nhân sự chính và có cập nhật thiết kế dữ liệu để hỗ trợ nhiều ca làm việc cho một nhân viên. Em xin cảm ơn thầy/cô đã lắng nghe và sẵn sàng trả lời câu hỏi.
Hành động: Nói chậm, ngắn gọn. Sau câu cảm ơn, dừng lại và nhìn hội đồng. Chuẩn bị mở lại slide 5 hoặc 7 nếu được hỏi về phần kỹ thuật.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02920" y="6510528"/>
            <a:ext cx="11155680" cy="0"/>
          </a:xfrm>
          <a:prstGeom prst="line">
            <a:avLst/>
          </a:prstGeom>
          <a:noFill/>
          <a:ln w="6350">
            <a:solidFill>
              <a:srgbClr val="CBD5E1">
                <a:alpha val="70000"/>
              </a:srgbClr>
            </a:solidFill>
            <a:prstDash val="solid"/>
          </a:ln>
        </p:spPr>
      </p:sp>
      <p:sp>
        <p:nvSpPr>
          <p:cNvPr id="3" name="Text 1"/>
          <p:cNvSpPr/>
          <p:nvPr/>
        </p:nvSpPr>
        <p:spPr>
          <a:xfrm>
            <a:off x="594360" y="6565392"/>
            <a:ext cx="5029200" cy="164592"/>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HRPro · Ứng dụng web quản lý nhân sự</a:t>
            </a:r>
            <a:endParaRPr lang="en-US" sz="700" dirty="0"/>
          </a:p>
        </p:txBody>
      </p:sp>
      <p:sp>
        <p:nvSpPr>
          <p:cNvPr id="2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333333">
                <a:alpha val="0"/>
              </a:srgbClr>
            </a:solidFill>
            <a:prstDash val="solid"/>
          </a:ln>
        </p:spPr>
      </p:sp>
      <p:pic>
        <p:nvPicPr>
          <p:cNvPr id="3" name="Image 0" descr="/mnt/data/report_images/image1.png"/>
          <p:cNvPicPr>
            <a:picLocks noChangeAspect="1"/>
          </p:cNvPicPr>
          <p:nvPr/>
        </p:nvPicPr>
        <p:blipFill>
          <a:blip r:embed="rId3"/>
          <a:stretch>
            <a:fillRect/>
          </a:stretch>
        </p:blipFill>
        <p:spPr>
          <a:xfrm>
            <a:off x="640080" y="607516"/>
            <a:ext cx="960120" cy="878944"/>
          </a:xfrm>
          <a:prstGeom prst="rect">
            <a:avLst/>
          </a:prstGeom>
        </p:spPr>
      </p:pic>
      <p:sp>
        <p:nvSpPr>
          <p:cNvPr id="4" name="Text 1"/>
          <p:cNvSpPr/>
          <p:nvPr/>
        </p:nvSpPr>
        <p:spPr>
          <a:xfrm>
            <a:off x="1764792" y="621792"/>
            <a:ext cx="3657600" cy="210312"/>
          </a:xfrm>
          <a:prstGeom prst="rect">
            <a:avLst/>
          </a:prstGeom>
          <a:noFill/>
          <a:ln/>
        </p:spPr>
        <p:txBody>
          <a:bodyPr wrap="square" lIns="0" tIns="0" rIns="0" bIns="0" rtlCol="0" anchor="ctr"/>
          <a:lstStyle/>
          <a:p>
            <a:pPr marL="0" indent="0">
              <a:buNone/>
            </a:pPr>
            <a:r>
              <a:rPr lang="en-US" sz="950" b="1" dirty="0">
                <a:solidFill>
                  <a:srgbClr val="93C5FD"/>
                </a:solidFill>
              </a:rPr>
              <a:t>ĐỒ ÁN CƠ SỞ NGÀNH</a:t>
            </a:r>
            <a:endParaRPr lang="en-US" sz="950" dirty="0"/>
          </a:p>
        </p:txBody>
      </p:sp>
      <p:sp>
        <p:nvSpPr>
          <p:cNvPr id="5" name="Text 2"/>
          <p:cNvSpPr/>
          <p:nvPr/>
        </p:nvSpPr>
        <p:spPr>
          <a:xfrm>
            <a:off x="658368" y="1874520"/>
            <a:ext cx="8869680" cy="1051560"/>
          </a:xfrm>
          <a:prstGeom prst="rect">
            <a:avLst/>
          </a:prstGeom>
          <a:noFill/>
          <a:ln/>
        </p:spPr>
        <p:txBody>
          <a:bodyPr wrap="square" lIns="0" tIns="0" rIns="0" bIns="0" rtlCol="0" anchor="ctr">
            <a:normAutofit/>
          </a:bodyPr>
          <a:lstStyle/>
          <a:p>
            <a:pPr marL="0" indent="0">
              <a:buNone/>
            </a:pPr>
            <a:r>
              <a:rPr lang="en-US" sz="3200" b="1" dirty="0">
                <a:solidFill>
                  <a:srgbClr val="FFFFFF"/>
                </a:solidFill>
              </a:rPr>
              <a:t>Phát triển ứng dụng web</a:t>
            </a:r>
            <a:endParaRPr lang="en-US" sz="3200" dirty="0"/>
          </a:p>
          <a:p>
            <a:pPr marL="0" indent="0">
              <a:buNone/>
            </a:pPr>
            <a:r>
              <a:rPr lang="en-US" sz="3200" b="1" dirty="0">
                <a:solidFill>
                  <a:srgbClr val="FFFFFF"/>
                </a:solidFill>
              </a:rPr>
              <a:t>quản lý nhân sự cho doanh nghiệp</a:t>
            </a:r>
            <a:endParaRPr lang="en-US" sz="3200" dirty="0"/>
          </a:p>
        </p:txBody>
      </p:sp>
      <p:sp>
        <p:nvSpPr>
          <p:cNvPr id="6" name="Text 3"/>
          <p:cNvSpPr/>
          <p:nvPr/>
        </p:nvSpPr>
        <p:spPr>
          <a:xfrm>
            <a:off x="685800" y="3127248"/>
            <a:ext cx="8229600" cy="320040"/>
          </a:xfrm>
          <a:prstGeom prst="rect">
            <a:avLst/>
          </a:prstGeom>
          <a:noFill/>
          <a:ln/>
        </p:spPr>
        <p:txBody>
          <a:bodyPr wrap="square" lIns="0" tIns="0" rIns="0" bIns="0" rtlCol="0" anchor="ctr"/>
          <a:lstStyle/>
          <a:p>
            <a:pPr marL="0" indent="0">
              <a:buNone/>
            </a:pPr>
            <a:r>
              <a:rPr lang="en-US" sz="1500" dirty="0">
                <a:solidFill>
                  <a:srgbClr val="CBD5E1"/>
                </a:solidFill>
              </a:rPr>
              <a:t>HRPro · HTML/CSS/JavaScript · localStorage · GitHub Pages</a:t>
            </a:r>
            <a:endParaRPr lang="en-US" sz="1500" dirty="0"/>
          </a:p>
        </p:txBody>
      </p:sp>
      <p:sp>
        <p:nvSpPr>
          <p:cNvPr id="7" name="Shape 4"/>
          <p:cNvSpPr/>
          <p:nvPr/>
        </p:nvSpPr>
        <p:spPr>
          <a:xfrm>
            <a:off x="685800" y="4846320"/>
            <a:ext cx="5852160" cy="640080"/>
          </a:xfrm>
          <a:prstGeom prst="roundRect">
            <a:avLst>
              <a:gd name="adj" fmla="val 11429"/>
            </a:avLst>
          </a:prstGeom>
          <a:solidFill>
            <a:srgbClr val="1E293B">
              <a:alpha val="90000"/>
            </a:srgbClr>
          </a:solidFill>
          <a:ln w="12700">
            <a:solidFill>
              <a:srgbClr val="334155"/>
            </a:solidFill>
            <a:prstDash val="solid"/>
          </a:ln>
        </p:spPr>
      </p:sp>
      <p:sp>
        <p:nvSpPr>
          <p:cNvPr id="8" name="Text 5"/>
          <p:cNvSpPr/>
          <p:nvPr/>
        </p:nvSpPr>
        <p:spPr>
          <a:xfrm>
            <a:off x="914400" y="5074920"/>
            <a:ext cx="5303520" cy="182880"/>
          </a:xfrm>
          <a:prstGeom prst="rect">
            <a:avLst/>
          </a:prstGeom>
          <a:noFill/>
          <a:ln/>
        </p:spPr>
        <p:txBody>
          <a:bodyPr wrap="square" lIns="0" tIns="0" rIns="0" bIns="0" rtlCol="0" anchor="ctr"/>
          <a:lstStyle/>
          <a:p>
            <a:pPr marL="0" indent="0">
              <a:buNone/>
            </a:pPr>
            <a:r>
              <a:rPr lang="en-US" sz="1200" dirty="0">
                <a:solidFill>
                  <a:srgbClr val="F8FAFC"/>
                </a:solidFill>
              </a:rPr>
              <a:t>Sinh viên: Nguyễn Văn Minh · MSV: 23010778</a:t>
            </a:r>
            <a:endParaRPr lang="en-US" sz="1200" dirty="0"/>
          </a:p>
        </p:txBody>
      </p:sp>
      <p:sp>
        <p:nvSpPr>
          <p:cNvPr id="9" name="Text 6"/>
          <p:cNvSpPr/>
          <p:nvPr/>
        </p:nvSpPr>
        <p:spPr>
          <a:xfrm>
            <a:off x="914400" y="5285232"/>
            <a:ext cx="5303520" cy="182880"/>
          </a:xfrm>
          <a:prstGeom prst="rect">
            <a:avLst/>
          </a:prstGeom>
          <a:noFill/>
          <a:ln/>
        </p:spPr>
        <p:txBody>
          <a:bodyPr wrap="square" lIns="0" tIns="0" rIns="0" bIns="0" rtlCol="0" anchor="ctr"/>
          <a:lstStyle/>
          <a:p>
            <a:pPr marL="0" indent="0">
              <a:buNone/>
            </a:pPr>
            <a:r>
              <a:rPr lang="en-US" sz="1200" dirty="0">
                <a:solidFill>
                  <a:srgbClr val="CBD5E1"/>
                </a:solidFill>
              </a:rPr>
              <a:t>GVHD: TS. Trịnh Thanh Bình</a:t>
            </a:r>
            <a:endParaRPr lang="en-US" sz="1200" dirty="0"/>
          </a:p>
        </p:txBody>
      </p:sp>
      <p:sp>
        <p:nvSpPr>
          <p:cNvPr id="10" name="Shape 7"/>
          <p:cNvSpPr/>
          <p:nvPr/>
        </p:nvSpPr>
        <p:spPr>
          <a:xfrm>
            <a:off x="7909560" y="4425696"/>
            <a:ext cx="1828800" cy="1143000"/>
          </a:xfrm>
          <a:prstGeom prst="roundRect">
            <a:avLst>
              <a:gd name="adj" fmla="val 5600"/>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1" name="Shape 8"/>
          <p:cNvSpPr/>
          <p:nvPr/>
        </p:nvSpPr>
        <p:spPr>
          <a:xfrm>
            <a:off x="8074152" y="4645152"/>
            <a:ext cx="457200" cy="457200"/>
          </a:xfrm>
          <a:prstGeom prst="ellipse">
            <a:avLst/>
          </a:prstGeom>
          <a:solidFill>
            <a:srgbClr val="2563EB"/>
          </a:solidFill>
          <a:ln w="12700">
            <a:solidFill>
              <a:srgbClr val="2563EB">
                <a:alpha val="0"/>
              </a:srgbClr>
            </a:solidFill>
            <a:prstDash val="solid"/>
          </a:ln>
        </p:spPr>
      </p:sp>
      <p:sp>
        <p:nvSpPr>
          <p:cNvPr id="12" name="Text 9"/>
          <p:cNvSpPr/>
          <p:nvPr/>
        </p:nvSpPr>
        <p:spPr>
          <a:xfrm>
            <a:off x="8074152" y="4727448"/>
            <a:ext cx="457200" cy="182880"/>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13" name="Text 10"/>
          <p:cNvSpPr/>
          <p:nvPr/>
        </p:nvSpPr>
        <p:spPr>
          <a:xfrm>
            <a:off x="8659368" y="4626864"/>
            <a:ext cx="914400" cy="347472"/>
          </a:xfrm>
          <a:prstGeom prst="rect">
            <a:avLst/>
          </a:prstGeom>
          <a:noFill/>
          <a:ln/>
        </p:spPr>
        <p:txBody>
          <a:bodyPr wrap="square" lIns="0" tIns="0" rIns="0" bIns="0" rtlCol="0" anchor="ctr">
            <a:normAutofit/>
          </a:bodyPr>
          <a:lstStyle/>
          <a:p>
            <a:pPr marL="0" indent="0">
              <a:buNone/>
            </a:pPr>
            <a:r>
              <a:rPr lang="en-US" sz="2200" b="1" dirty="0">
                <a:solidFill>
                  <a:srgbClr val="0F172A"/>
                </a:solidFill>
                <a:latin typeface="Arial" pitchFamily="34" charset="0"/>
                <a:ea typeface="Arial" pitchFamily="34" charset="-122"/>
                <a:cs typeface="Arial" pitchFamily="34" charset="-120"/>
              </a:rPr>
              <a:t>25</a:t>
            </a:r>
            <a:endParaRPr lang="en-US" sz="2200" dirty="0"/>
          </a:p>
        </p:txBody>
      </p:sp>
      <p:sp>
        <p:nvSpPr>
          <p:cNvPr id="14" name="Text 11"/>
          <p:cNvSpPr/>
          <p:nvPr/>
        </p:nvSpPr>
        <p:spPr>
          <a:xfrm>
            <a:off x="8659368" y="5047488"/>
            <a:ext cx="914400" cy="201168"/>
          </a:xfrm>
          <a:prstGeom prst="rect">
            <a:avLst/>
          </a:prstGeom>
          <a:noFill/>
          <a:ln/>
        </p:spPr>
        <p:txBody>
          <a:bodyPr wrap="square" lIns="0" tIns="0" rIns="0" bIns="0" rtlCol="0" anchor="ctr">
            <a:normAutofit/>
          </a:bodyPr>
          <a:lstStyle/>
          <a:p>
            <a:pPr marL="0" indent="0">
              <a:buNone/>
            </a:pPr>
            <a:r>
              <a:rPr lang="en-US" sz="950" dirty="0">
                <a:solidFill>
                  <a:srgbClr val="64748B"/>
                </a:solidFill>
                <a:latin typeface="Arial" pitchFamily="34" charset="0"/>
                <a:ea typeface="Arial" pitchFamily="34" charset="-122"/>
                <a:cs typeface="Arial" pitchFamily="34" charset="-120"/>
              </a:rPr>
              <a:t>nhân viên mẫu</a:t>
            </a:r>
            <a:endParaRPr lang="en-US" sz="950" dirty="0"/>
          </a:p>
        </p:txBody>
      </p:sp>
      <p:sp>
        <p:nvSpPr>
          <p:cNvPr id="15" name="Shape 12"/>
          <p:cNvSpPr/>
          <p:nvPr/>
        </p:nvSpPr>
        <p:spPr>
          <a:xfrm>
            <a:off x="9921240" y="4425696"/>
            <a:ext cx="1600200" cy="1143000"/>
          </a:xfrm>
          <a:prstGeom prst="roundRect">
            <a:avLst>
              <a:gd name="adj" fmla="val 5600"/>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6" name="Shape 13"/>
          <p:cNvSpPr/>
          <p:nvPr/>
        </p:nvSpPr>
        <p:spPr>
          <a:xfrm>
            <a:off x="10085832" y="4645152"/>
            <a:ext cx="457200" cy="457200"/>
          </a:xfrm>
          <a:prstGeom prst="ellipse">
            <a:avLst/>
          </a:prstGeom>
          <a:solidFill>
            <a:srgbClr val="0F766E"/>
          </a:solidFill>
          <a:ln w="12700">
            <a:solidFill>
              <a:srgbClr val="0F766E">
                <a:alpha val="0"/>
              </a:srgbClr>
            </a:solidFill>
            <a:prstDash val="solid"/>
          </a:ln>
        </p:spPr>
      </p:sp>
      <p:sp>
        <p:nvSpPr>
          <p:cNvPr id="17" name="Text 14"/>
          <p:cNvSpPr/>
          <p:nvPr/>
        </p:nvSpPr>
        <p:spPr>
          <a:xfrm>
            <a:off x="10085832" y="4727448"/>
            <a:ext cx="457200" cy="182880"/>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18" name="Text 15"/>
          <p:cNvSpPr/>
          <p:nvPr/>
        </p:nvSpPr>
        <p:spPr>
          <a:xfrm>
            <a:off x="10671048" y="4626864"/>
            <a:ext cx="685800" cy="347472"/>
          </a:xfrm>
          <a:prstGeom prst="rect">
            <a:avLst/>
          </a:prstGeom>
          <a:noFill/>
          <a:ln/>
        </p:spPr>
        <p:txBody>
          <a:bodyPr wrap="square" lIns="0" tIns="0" rIns="0" bIns="0" rtlCol="0" anchor="ctr">
            <a:normAutofit/>
          </a:bodyPr>
          <a:lstStyle/>
          <a:p>
            <a:pPr marL="0" indent="0">
              <a:buNone/>
            </a:pPr>
            <a:r>
              <a:rPr lang="en-US" sz="2200" b="1" dirty="0">
                <a:solidFill>
                  <a:srgbClr val="0F172A"/>
                </a:solidFill>
                <a:latin typeface="Arial" pitchFamily="34" charset="0"/>
                <a:ea typeface="Arial" pitchFamily="34" charset="-122"/>
                <a:cs typeface="Arial" pitchFamily="34" charset="-120"/>
              </a:rPr>
              <a:t>5</a:t>
            </a:r>
            <a:endParaRPr lang="en-US" sz="2200" dirty="0"/>
          </a:p>
        </p:txBody>
      </p:sp>
      <p:sp>
        <p:nvSpPr>
          <p:cNvPr id="19" name="Text 16"/>
          <p:cNvSpPr/>
          <p:nvPr/>
        </p:nvSpPr>
        <p:spPr>
          <a:xfrm>
            <a:off x="10671048" y="5047488"/>
            <a:ext cx="685800" cy="201168"/>
          </a:xfrm>
          <a:prstGeom prst="rect">
            <a:avLst/>
          </a:prstGeom>
          <a:noFill/>
          <a:ln/>
        </p:spPr>
        <p:txBody>
          <a:bodyPr wrap="square" lIns="0" tIns="0" rIns="0" bIns="0" rtlCol="0" anchor="ctr">
            <a:normAutofit/>
          </a:bodyPr>
          <a:lstStyle/>
          <a:p>
            <a:pPr marL="0" indent="0">
              <a:buNone/>
            </a:pPr>
            <a:r>
              <a:rPr lang="en-US" sz="950" dirty="0">
                <a:solidFill>
                  <a:srgbClr val="64748B"/>
                </a:solidFill>
                <a:latin typeface="Arial" pitchFamily="34" charset="0"/>
                <a:ea typeface="Arial" pitchFamily="34" charset="-122"/>
                <a:cs typeface="Arial" pitchFamily="34" charset="-120"/>
              </a:rPr>
              <a:t>vai trò</a:t>
            </a:r>
            <a:endParaRPr lang="en-US" sz="950" dirty="0"/>
          </a:p>
        </p:txBody>
      </p:sp>
      <p:sp>
        <p:nvSpPr>
          <p:cNvPr id="2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01 · TỔNG QUAN</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Bài toán và mục tiêu</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Vấn đề chính: doanh nghiệp nhỏ cần một công cụ HRM gọn nhẹ, dễ chạy, dễ hiểu và có thể mở rộng.</a:t>
            </a:r>
            <a:endParaRPr lang="en-US" sz="1350" dirty="0"/>
          </a:p>
        </p:txBody>
      </p:sp>
      <p:sp>
        <p:nvSpPr>
          <p:cNvPr id="5" name="Shape 3"/>
          <p:cNvSpPr/>
          <p:nvPr/>
        </p:nvSpPr>
        <p:spPr>
          <a:xfrm>
            <a:off x="658368" y="1691640"/>
            <a:ext cx="3337560" cy="2057400"/>
          </a:xfrm>
          <a:prstGeom prst="roundRect">
            <a:avLst>
              <a:gd name="adj" fmla="val 3111"/>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6" name="Text 4"/>
          <p:cNvSpPr/>
          <p:nvPr/>
        </p:nvSpPr>
        <p:spPr>
          <a:xfrm>
            <a:off x="841248" y="1883664"/>
            <a:ext cx="457200" cy="27432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7" name="Text 5"/>
          <p:cNvSpPr/>
          <p:nvPr/>
        </p:nvSpPr>
        <p:spPr>
          <a:xfrm>
            <a:off x="1389888" y="1847088"/>
            <a:ext cx="2331720" cy="320040"/>
          </a:xfrm>
          <a:prstGeom prst="rect">
            <a:avLst/>
          </a:prstGeom>
          <a:noFill/>
          <a:ln/>
        </p:spPr>
        <p:txBody>
          <a:bodyPr wrap="square" lIns="0" tIns="0" rIns="0" bIns="0" rtlCol="0" anchor="ctr">
            <a:normAutofit/>
          </a:bodyPr>
          <a:lstStyle/>
          <a:p>
            <a:pPr marL="0" indent="0">
              <a:buNone/>
            </a:pPr>
            <a:r>
              <a:rPr lang="en-US" sz="1600" b="1" dirty="0">
                <a:solidFill>
                  <a:srgbClr val="EF4444"/>
                </a:solidFill>
              </a:rPr>
              <a:t>Dữ liệu rời rạc</a:t>
            </a:r>
            <a:endParaRPr lang="en-US" sz="1600" dirty="0"/>
          </a:p>
        </p:txBody>
      </p:sp>
      <p:sp>
        <p:nvSpPr>
          <p:cNvPr id="8" name="Text 6"/>
          <p:cNvSpPr/>
          <p:nvPr/>
        </p:nvSpPr>
        <p:spPr>
          <a:xfrm>
            <a:off x="914400" y="2395728"/>
            <a:ext cx="2743200" cy="777240"/>
          </a:xfrm>
          <a:prstGeom prst="rect">
            <a:avLst/>
          </a:prstGeom>
          <a:noFill/>
          <a:ln/>
        </p:spPr>
        <p:txBody>
          <a:bodyPr wrap="square" lIns="381" tIns="381" rIns="381" bIns="381" rtlCol="0" anchor="ctr">
            <a:normAutofit/>
          </a:bodyPr>
          <a:lstStyle/>
          <a:p>
            <a:pPr marL="0" indent="0">
              <a:buNone/>
            </a:pPr>
            <a:r>
              <a:rPr lang="en-US" sz="1240" dirty="0">
                <a:solidFill>
                  <a:srgbClr val="1E293B"/>
                </a:solidFill>
              </a:rPr>
              <a:t>Excel/giấy tờ dễ sai lệch, khó tổng hợp và khó phân quyền.</a:t>
            </a:r>
            <a:endParaRPr lang="en-US" sz="1240" dirty="0"/>
          </a:p>
        </p:txBody>
      </p:sp>
      <p:sp>
        <p:nvSpPr>
          <p:cNvPr id="9" name="Shape 7"/>
          <p:cNvSpPr/>
          <p:nvPr/>
        </p:nvSpPr>
        <p:spPr>
          <a:xfrm>
            <a:off x="914400" y="3429000"/>
            <a:ext cx="2788920" cy="0"/>
          </a:xfrm>
          <a:prstGeom prst="line">
            <a:avLst/>
          </a:prstGeom>
          <a:noFill/>
          <a:ln w="25400">
            <a:solidFill>
              <a:srgbClr val="EF4444">
                <a:alpha val="75000"/>
              </a:srgbClr>
            </a:solidFill>
            <a:prstDash val="solid"/>
          </a:ln>
        </p:spPr>
      </p:sp>
      <p:sp>
        <p:nvSpPr>
          <p:cNvPr id="10" name="Shape 8"/>
          <p:cNvSpPr/>
          <p:nvPr/>
        </p:nvSpPr>
        <p:spPr>
          <a:xfrm>
            <a:off x="4407408" y="1691640"/>
            <a:ext cx="3337560" cy="2057400"/>
          </a:xfrm>
          <a:prstGeom prst="roundRect">
            <a:avLst>
              <a:gd name="adj" fmla="val 3111"/>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1" name="Text 9"/>
          <p:cNvSpPr/>
          <p:nvPr/>
        </p:nvSpPr>
        <p:spPr>
          <a:xfrm>
            <a:off x="4590288" y="1883664"/>
            <a:ext cx="457200" cy="27432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2" name="Text 10"/>
          <p:cNvSpPr/>
          <p:nvPr/>
        </p:nvSpPr>
        <p:spPr>
          <a:xfrm>
            <a:off x="5138928" y="1847088"/>
            <a:ext cx="2331720" cy="320040"/>
          </a:xfrm>
          <a:prstGeom prst="rect">
            <a:avLst/>
          </a:prstGeom>
          <a:noFill/>
          <a:ln/>
        </p:spPr>
        <p:txBody>
          <a:bodyPr wrap="square" lIns="0" tIns="0" rIns="0" bIns="0" rtlCol="0" anchor="ctr">
            <a:normAutofit/>
          </a:bodyPr>
          <a:lstStyle/>
          <a:p>
            <a:pPr marL="0" indent="0">
              <a:buNone/>
            </a:pPr>
            <a:r>
              <a:rPr lang="en-US" sz="1600" b="1" dirty="0">
                <a:solidFill>
                  <a:srgbClr val="F59E0B"/>
                </a:solidFill>
              </a:rPr>
              <a:t>Tính lương mất thời gian</a:t>
            </a:r>
            <a:endParaRPr lang="en-US" sz="1600" dirty="0"/>
          </a:p>
        </p:txBody>
      </p:sp>
      <p:sp>
        <p:nvSpPr>
          <p:cNvPr id="13" name="Text 11"/>
          <p:cNvSpPr/>
          <p:nvPr/>
        </p:nvSpPr>
        <p:spPr>
          <a:xfrm>
            <a:off x="4663440" y="2395728"/>
            <a:ext cx="2743200" cy="777240"/>
          </a:xfrm>
          <a:prstGeom prst="rect">
            <a:avLst/>
          </a:prstGeom>
          <a:noFill/>
          <a:ln/>
        </p:spPr>
        <p:txBody>
          <a:bodyPr wrap="square" lIns="381" tIns="381" rIns="381" bIns="381" rtlCol="0" anchor="ctr">
            <a:normAutofit/>
          </a:bodyPr>
          <a:lstStyle/>
          <a:p>
            <a:pPr marL="0" indent="0">
              <a:buNone/>
            </a:pPr>
            <a:r>
              <a:rPr lang="en-US" sz="1240" dirty="0">
                <a:solidFill>
                  <a:srgbClr val="1E293B"/>
                </a:solidFill>
              </a:rPr>
              <a:t>Chấm công và khấu trừ muộn/vắng thường phải xử lý thủ công.</a:t>
            </a:r>
            <a:endParaRPr lang="en-US" sz="1240" dirty="0"/>
          </a:p>
        </p:txBody>
      </p:sp>
      <p:sp>
        <p:nvSpPr>
          <p:cNvPr id="14" name="Shape 12"/>
          <p:cNvSpPr/>
          <p:nvPr/>
        </p:nvSpPr>
        <p:spPr>
          <a:xfrm>
            <a:off x="4663440" y="3429000"/>
            <a:ext cx="2788920" cy="0"/>
          </a:xfrm>
          <a:prstGeom prst="line">
            <a:avLst/>
          </a:prstGeom>
          <a:noFill/>
          <a:ln w="25400">
            <a:solidFill>
              <a:srgbClr val="F59E0B">
                <a:alpha val="75000"/>
              </a:srgbClr>
            </a:solidFill>
            <a:prstDash val="solid"/>
          </a:ln>
        </p:spPr>
      </p:sp>
      <p:sp>
        <p:nvSpPr>
          <p:cNvPr id="15" name="Shape 13"/>
          <p:cNvSpPr/>
          <p:nvPr/>
        </p:nvSpPr>
        <p:spPr>
          <a:xfrm>
            <a:off x="8156448" y="1691640"/>
            <a:ext cx="3337560" cy="2057400"/>
          </a:xfrm>
          <a:prstGeom prst="roundRect">
            <a:avLst>
              <a:gd name="adj" fmla="val 3111"/>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6" name="Text 14"/>
          <p:cNvSpPr/>
          <p:nvPr/>
        </p:nvSpPr>
        <p:spPr>
          <a:xfrm>
            <a:off x="8339328" y="1883664"/>
            <a:ext cx="457200" cy="27432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7" name="Text 15"/>
          <p:cNvSpPr/>
          <p:nvPr/>
        </p:nvSpPr>
        <p:spPr>
          <a:xfrm>
            <a:off x="8887968" y="1847088"/>
            <a:ext cx="2331720" cy="320040"/>
          </a:xfrm>
          <a:prstGeom prst="rect">
            <a:avLst/>
          </a:prstGeom>
          <a:noFill/>
          <a:ln/>
        </p:spPr>
        <p:txBody>
          <a:bodyPr wrap="square" lIns="0" tIns="0" rIns="0" bIns="0" rtlCol="0" anchor="ctr">
            <a:normAutofit/>
          </a:bodyPr>
          <a:lstStyle/>
          <a:p>
            <a:pPr marL="0" indent="0">
              <a:buNone/>
            </a:pPr>
            <a:r>
              <a:rPr lang="en-US" sz="1600" b="1" dirty="0">
                <a:solidFill>
                  <a:srgbClr val="3B82F6"/>
                </a:solidFill>
              </a:rPr>
              <a:t>Thiếu minh bạch</a:t>
            </a:r>
            <a:endParaRPr lang="en-US" sz="1600" dirty="0"/>
          </a:p>
        </p:txBody>
      </p:sp>
      <p:sp>
        <p:nvSpPr>
          <p:cNvPr id="18" name="Text 16"/>
          <p:cNvSpPr/>
          <p:nvPr/>
        </p:nvSpPr>
        <p:spPr>
          <a:xfrm>
            <a:off x="8412480" y="2395728"/>
            <a:ext cx="2743200" cy="777240"/>
          </a:xfrm>
          <a:prstGeom prst="rect">
            <a:avLst/>
          </a:prstGeom>
          <a:noFill/>
          <a:ln/>
        </p:spPr>
        <p:txBody>
          <a:bodyPr wrap="square" lIns="381" tIns="381" rIns="381" bIns="381" rtlCol="0" anchor="ctr">
            <a:normAutofit/>
          </a:bodyPr>
          <a:lstStyle/>
          <a:p>
            <a:pPr marL="0" indent="0">
              <a:buNone/>
            </a:pPr>
            <a:r>
              <a:rPr lang="en-US" sz="1240" dirty="0">
                <a:solidFill>
                  <a:srgbClr val="1E293B"/>
                </a:solidFill>
              </a:rPr>
              <a:t>Khó xem trạng thái công từng ngày và khó đối chiếu KPI/lương.</a:t>
            </a:r>
            <a:endParaRPr lang="en-US" sz="1240" dirty="0"/>
          </a:p>
        </p:txBody>
      </p:sp>
      <p:sp>
        <p:nvSpPr>
          <p:cNvPr id="19" name="Shape 17"/>
          <p:cNvSpPr/>
          <p:nvPr/>
        </p:nvSpPr>
        <p:spPr>
          <a:xfrm>
            <a:off x="8412480" y="3429000"/>
            <a:ext cx="2788920" cy="0"/>
          </a:xfrm>
          <a:prstGeom prst="line">
            <a:avLst/>
          </a:prstGeom>
          <a:noFill/>
          <a:ln w="25400">
            <a:solidFill>
              <a:srgbClr val="3B82F6">
                <a:alpha val="75000"/>
              </a:srgbClr>
            </a:solidFill>
            <a:prstDash val="solid"/>
          </a:ln>
        </p:spPr>
      </p:sp>
      <p:sp>
        <p:nvSpPr>
          <p:cNvPr id="20" name="Text 18"/>
          <p:cNvSpPr/>
          <p:nvPr/>
        </p:nvSpPr>
        <p:spPr>
          <a:xfrm>
            <a:off x="685800" y="4160520"/>
            <a:ext cx="3200400" cy="228600"/>
          </a:xfrm>
          <a:prstGeom prst="rect">
            <a:avLst/>
          </a:prstGeom>
          <a:noFill/>
          <a:ln/>
        </p:spPr>
        <p:txBody>
          <a:bodyPr wrap="square" lIns="0" tIns="0" rIns="0" bIns="0" rtlCol="0" anchor="ctr"/>
          <a:lstStyle/>
          <a:p>
            <a:pPr marL="0" indent="0">
              <a:buNone/>
            </a:pPr>
            <a:r>
              <a:rPr lang="en-US" sz="1700" b="1" dirty="0">
                <a:solidFill>
                  <a:srgbClr val="0F172A"/>
                </a:solidFill>
              </a:rPr>
              <a:t>Mục tiêu sản phẩm</a:t>
            </a:r>
            <a:endParaRPr lang="en-US" sz="1700" dirty="0"/>
          </a:p>
        </p:txBody>
      </p:sp>
      <p:sp>
        <p:nvSpPr>
          <p:cNvPr id="21" name="Text 19"/>
          <p:cNvSpPr/>
          <p:nvPr/>
        </p:nvSpPr>
        <p:spPr>
          <a:xfrm>
            <a:off x="822960" y="4553712"/>
            <a:ext cx="5120640" cy="256032"/>
          </a:xfrm>
          <a:prstGeom prst="rect">
            <a:avLst/>
          </a:prstGeom>
          <a:noFill/>
          <a:ln/>
        </p:spPr>
        <p:txBody>
          <a:bodyPr wrap="square" lIns="0" tIns="0" rIns="0" bIns="0" rtlCol="0" anchor="ctr">
            <a:normAutofit/>
          </a:bodyPr>
          <a:lstStyle/>
          <a:p>
            <a:r>
              <a:rPr lang="en-US" sz="1350" dirty="0">
                <a:solidFill>
                  <a:srgbClr val="1E293B"/>
                </a:solidFill>
                <a:latin typeface="Arial" pitchFamily="34" charset="0"/>
                <a:ea typeface="Arial" pitchFamily="34" charset="-122"/>
                <a:cs typeface="Arial" pitchFamily="34" charset="-120"/>
              </a:rPr>
              <a:t>Quản lý nhân viên, phòng ban, ca làm việc</a:t>
            </a:r>
            <a:endParaRPr lang="en-US" sz="1350" dirty="0"/>
          </a:p>
        </p:txBody>
      </p:sp>
      <p:sp>
        <p:nvSpPr>
          <p:cNvPr id="22" name="Text 20"/>
          <p:cNvSpPr/>
          <p:nvPr/>
        </p:nvSpPr>
        <p:spPr>
          <a:xfrm>
            <a:off x="822960" y="4937760"/>
            <a:ext cx="5120640" cy="256032"/>
          </a:xfrm>
          <a:prstGeom prst="rect">
            <a:avLst/>
          </a:prstGeom>
          <a:noFill/>
          <a:ln/>
        </p:spPr>
        <p:txBody>
          <a:bodyPr wrap="square" lIns="0" tIns="0" rIns="0" bIns="0" rtlCol="0" anchor="ctr">
            <a:normAutofit/>
          </a:bodyPr>
          <a:lstStyle/>
          <a:p>
            <a:r>
              <a:rPr lang="en-US" sz="1350" dirty="0">
                <a:solidFill>
                  <a:srgbClr val="1E293B"/>
                </a:solidFill>
                <a:latin typeface="Arial" pitchFamily="34" charset="0"/>
                <a:ea typeface="Arial" pitchFamily="34" charset="-122"/>
                <a:cs typeface="Arial" pitchFamily="34" charset="-120"/>
              </a:rPr>
              <a:t>Chấm công theo ngày và tự động xác định trạng thái</a:t>
            </a:r>
            <a:endParaRPr lang="en-US" sz="1350" dirty="0"/>
          </a:p>
        </p:txBody>
      </p:sp>
      <p:sp>
        <p:nvSpPr>
          <p:cNvPr id="23" name="Text 21"/>
          <p:cNvSpPr/>
          <p:nvPr/>
        </p:nvSpPr>
        <p:spPr>
          <a:xfrm>
            <a:off x="822960" y="5321808"/>
            <a:ext cx="5120640" cy="256032"/>
          </a:xfrm>
          <a:prstGeom prst="rect">
            <a:avLst/>
          </a:prstGeom>
          <a:noFill/>
          <a:ln/>
        </p:spPr>
        <p:txBody>
          <a:bodyPr wrap="square" lIns="0" tIns="0" rIns="0" bIns="0" rtlCol="0" anchor="ctr">
            <a:normAutofit/>
          </a:bodyPr>
          <a:lstStyle/>
          <a:p>
            <a:r>
              <a:rPr lang="en-US" sz="1350" dirty="0">
                <a:solidFill>
                  <a:srgbClr val="1E293B"/>
                </a:solidFill>
                <a:latin typeface="Arial" pitchFamily="34" charset="0"/>
                <a:ea typeface="Arial" pitchFamily="34" charset="-122"/>
                <a:cs typeface="Arial" pitchFamily="34" charset="-120"/>
              </a:rPr>
              <a:t>Tính lương, KPI, báo cáo CSV</a:t>
            </a:r>
            <a:endParaRPr lang="en-US" sz="1350" dirty="0"/>
          </a:p>
        </p:txBody>
      </p:sp>
      <p:sp>
        <p:nvSpPr>
          <p:cNvPr id="24" name="Text 22"/>
          <p:cNvSpPr/>
          <p:nvPr/>
        </p:nvSpPr>
        <p:spPr>
          <a:xfrm>
            <a:off x="822960" y="5705856"/>
            <a:ext cx="5120640" cy="256032"/>
          </a:xfrm>
          <a:prstGeom prst="rect">
            <a:avLst/>
          </a:prstGeom>
          <a:noFill/>
          <a:ln/>
        </p:spPr>
        <p:txBody>
          <a:bodyPr wrap="square" lIns="0" tIns="0" rIns="0" bIns="0" rtlCol="0" anchor="ctr">
            <a:normAutofit/>
          </a:bodyPr>
          <a:lstStyle/>
          <a:p>
            <a:r>
              <a:rPr lang="en-US" sz="1350" dirty="0">
                <a:solidFill>
                  <a:srgbClr val="1E293B"/>
                </a:solidFill>
                <a:latin typeface="Arial" pitchFamily="34" charset="0"/>
                <a:ea typeface="Arial" pitchFamily="34" charset="-122"/>
                <a:cs typeface="Arial" pitchFamily="34" charset="-120"/>
              </a:rPr>
              <a:t>Đăng nhập và phân quyền theo vai trò</a:t>
            </a:r>
            <a:endParaRPr lang="en-US" sz="1350" dirty="0"/>
          </a:p>
        </p:txBody>
      </p:sp>
      <p:sp>
        <p:nvSpPr>
          <p:cNvPr id="25" name="Shape 23"/>
          <p:cNvSpPr/>
          <p:nvPr/>
        </p:nvSpPr>
        <p:spPr>
          <a:xfrm>
            <a:off x="6812280" y="4343400"/>
            <a:ext cx="4434840" cy="1691640"/>
          </a:xfrm>
          <a:prstGeom prst="roundRect">
            <a:avLst>
              <a:gd name="adj" fmla="val 3243"/>
            </a:avLst>
          </a:prstGeom>
          <a:solidFill>
            <a:srgbClr val="EFF6FF"/>
          </a:solidFill>
          <a:ln w="12700">
            <a:solidFill>
              <a:srgbClr val="BFDBFE"/>
            </a:solidFill>
            <a:prstDash val="solid"/>
          </a:ln>
        </p:spPr>
      </p:sp>
      <p:sp>
        <p:nvSpPr>
          <p:cNvPr id="26" name="Text 24"/>
          <p:cNvSpPr/>
          <p:nvPr/>
        </p:nvSpPr>
        <p:spPr>
          <a:xfrm>
            <a:off x="7086600" y="4617720"/>
            <a:ext cx="1645920" cy="228600"/>
          </a:xfrm>
          <a:prstGeom prst="rect">
            <a:avLst/>
          </a:prstGeom>
          <a:noFill/>
          <a:ln/>
        </p:spPr>
        <p:txBody>
          <a:bodyPr wrap="square" lIns="0" tIns="0" rIns="0" bIns="0" rtlCol="0" anchor="ctr"/>
          <a:lstStyle/>
          <a:p>
            <a:pPr marL="0" indent="0">
              <a:buNone/>
            </a:pPr>
            <a:r>
              <a:rPr lang="en-US" sz="1400" b="1" dirty="0">
                <a:solidFill>
                  <a:srgbClr val="1A56DB"/>
                </a:solidFill>
              </a:rPr>
              <a:t>Định hướng</a:t>
            </a:r>
            <a:endParaRPr lang="en-US" sz="1400" dirty="0"/>
          </a:p>
        </p:txBody>
      </p:sp>
      <p:sp>
        <p:nvSpPr>
          <p:cNvPr id="27" name="Text 25"/>
          <p:cNvSpPr/>
          <p:nvPr/>
        </p:nvSpPr>
        <p:spPr>
          <a:xfrm>
            <a:off x="7086600" y="4956048"/>
            <a:ext cx="3840480" cy="594360"/>
          </a:xfrm>
          <a:prstGeom prst="rect">
            <a:avLst/>
          </a:prstGeom>
          <a:noFill/>
          <a:ln/>
        </p:spPr>
        <p:txBody>
          <a:bodyPr wrap="square" lIns="0" tIns="0" rIns="0" bIns="0" rtlCol="0" anchor="ctr">
            <a:normAutofit/>
          </a:bodyPr>
          <a:lstStyle/>
          <a:p>
            <a:pPr marL="0" indent="0">
              <a:buNone/>
            </a:pPr>
            <a:r>
              <a:rPr lang="en-US" sz="1240" dirty="0">
                <a:solidFill>
                  <a:srgbClr val="1E293B"/>
                </a:solidFill>
              </a:rPr>
              <a:t>Bản hiện tại là frontend SPA dùng dữ liệu mẫu, phù hợp demo đồ án và có thể nâng cấp lên Client–Server trong tương lai.</a:t>
            </a:r>
            <a:endParaRPr lang="en-US" sz="1240" dirty="0"/>
          </a:p>
        </p:txBody>
      </p:sp>
      <p:sp>
        <p:nvSpPr>
          <p:cNvPr id="28"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02 · CHỨC NĂNG</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Phạm vi chức năng và phân quyền</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Hệ thống mô phỏng nghiệp vụ HRM theo 5 nhóm người dùng và 8 nhóm chức năng chính.</a:t>
            </a:r>
            <a:endParaRPr lang="en-US" sz="1350" dirty="0"/>
          </a:p>
        </p:txBody>
      </p:sp>
      <p:sp>
        <p:nvSpPr>
          <p:cNvPr id="5" name="Shape 3"/>
          <p:cNvSpPr/>
          <p:nvPr/>
        </p:nvSpPr>
        <p:spPr>
          <a:xfrm>
            <a:off x="658368" y="1600200"/>
            <a:ext cx="2331720" cy="713232"/>
          </a:xfrm>
          <a:prstGeom prst="roundRect">
            <a:avLst>
              <a:gd name="adj" fmla="val 897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6" name="Text 4"/>
          <p:cNvSpPr/>
          <p:nvPr/>
        </p:nvSpPr>
        <p:spPr>
          <a:xfrm>
            <a:off x="795528" y="1819656"/>
            <a:ext cx="320040" cy="182880"/>
          </a:xfrm>
          <a:prstGeom prst="rect">
            <a:avLst/>
          </a:prstGeom>
          <a:noFill/>
          <a:ln/>
        </p:spPr>
        <p:txBody>
          <a:bodyPr wrap="square" lIns="0" tIns="0" rIns="0" bIns="0" rtlCol="0" anchor="ctr"/>
          <a:lstStyle/>
          <a:p>
            <a:pPr marL="0" indent="0">
              <a:buNone/>
            </a:pPr>
            <a:r>
              <a:rPr lang="en-US" sz="1400" dirty="0">
                <a:solidFill>
                  <a:srgbClr val="000000"/>
                </a:solidFill>
              </a:rPr>
              <a:t>📊</a:t>
            </a:r>
            <a:endParaRPr lang="en-US" sz="1400" dirty="0"/>
          </a:p>
        </p:txBody>
      </p:sp>
      <p:sp>
        <p:nvSpPr>
          <p:cNvPr id="7" name="Text 5"/>
          <p:cNvSpPr/>
          <p:nvPr/>
        </p:nvSpPr>
        <p:spPr>
          <a:xfrm>
            <a:off x="1188720" y="1837944"/>
            <a:ext cx="1508760" cy="164592"/>
          </a:xfrm>
          <a:prstGeom prst="rect">
            <a:avLst/>
          </a:prstGeom>
          <a:noFill/>
          <a:ln/>
        </p:spPr>
        <p:txBody>
          <a:bodyPr wrap="square" lIns="0" tIns="0" rIns="0" bIns="0" rtlCol="0" anchor="ctr">
            <a:normAutofit/>
          </a:bodyPr>
          <a:lstStyle/>
          <a:p>
            <a:pPr marL="0" indent="0">
              <a:buNone/>
            </a:pPr>
            <a:r>
              <a:rPr lang="en-US" sz="1250" b="1" dirty="0">
                <a:solidFill>
                  <a:srgbClr val="1E293B"/>
                </a:solidFill>
              </a:rPr>
              <a:t>Dashboard</a:t>
            </a:r>
            <a:endParaRPr lang="en-US" sz="1250" dirty="0"/>
          </a:p>
        </p:txBody>
      </p:sp>
      <p:sp>
        <p:nvSpPr>
          <p:cNvPr id="8" name="Shape 6"/>
          <p:cNvSpPr/>
          <p:nvPr/>
        </p:nvSpPr>
        <p:spPr>
          <a:xfrm>
            <a:off x="3447288" y="1600200"/>
            <a:ext cx="2331720" cy="713232"/>
          </a:xfrm>
          <a:prstGeom prst="roundRect">
            <a:avLst>
              <a:gd name="adj" fmla="val 897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9" name="Text 7"/>
          <p:cNvSpPr/>
          <p:nvPr/>
        </p:nvSpPr>
        <p:spPr>
          <a:xfrm>
            <a:off x="3584448" y="1819656"/>
            <a:ext cx="320040" cy="182880"/>
          </a:xfrm>
          <a:prstGeom prst="rect">
            <a:avLst/>
          </a:prstGeom>
          <a:noFill/>
          <a:ln/>
        </p:spPr>
        <p:txBody>
          <a:bodyPr wrap="square" lIns="0" tIns="0" rIns="0" bIns="0" rtlCol="0" anchor="ctr"/>
          <a:lstStyle/>
          <a:p>
            <a:pPr marL="0" indent="0">
              <a:buNone/>
            </a:pPr>
            <a:r>
              <a:rPr lang="en-US" sz="1400" dirty="0">
                <a:solidFill>
                  <a:srgbClr val="000000"/>
                </a:solidFill>
              </a:rPr>
              <a:t>👥</a:t>
            </a:r>
            <a:endParaRPr lang="en-US" sz="1400" dirty="0"/>
          </a:p>
        </p:txBody>
      </p:sp>
      <p:sp>
        <p:nvSpPr>
          <p:cNvPr id="10" name="Text 8"/>
          <p:cNvSpPr/>
          <p:nvPr/>
        </p:nvSpPr>
        <p:spPr>
          <a:xfrm>
            <a:off x="3977640" y="1837944"/>
            <a:ext cx="1508760" cy="164592"/>
          </a:xfrm>
          <a:prstGeom prst="rect">
            <a:avLst/>
          </a:prstGeom>
          <a:noFill/>
          <a:ln/>
        </p:spPr>
        <p:txBody>
          <a:bodyPr wrap="square" lIns="0" tIns="0" rIns="0" bIns="0" rtlCol="0" anchor="ctr">
            <a:normAutofit/>
          </a:bodyPr>
          <a:lstStyle/>
          <a:p>
            <a:pPr marL="0" indent="0">
              <a:buNone/>
            </a:pPr>
            <a:r>
              <a:rPr lang="en-US" sz="1250" b="1" dirty="0">
                <a:solidFill>
                  <a:srgbClr val="1E293B"/>
                </a:solidFill>
              </a:rPr>
              <a:t>Nhân viên</a:t>
            </a:r>
            <a:endParaRPr lang="en-US" sz="1250" dirty="0"/>
          </a:p>
        </p:txBody>
      </p:sp>
      <p:sp>
        <p:nvSpPr>
          <p:cNvPr id="11" name="Shape 9"/>
          <p:cNvSpPr/>
          <p:nvPr/>
        </p:nvSpPr>
        <p:spPr>
          <a:xfrm>
            <a:off x="6236208" y="1600200"/>
            <a:ext cx="2331720" cy="713232"/>
          </a:xfrm>
          <a:prstGeom prst="roundRect">
            <a:avLst>
              <a:gd name="adj" fmla="val 897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2" name="Text 10"/>
          <p:cNvSpPr/>
          <p:nvPr/>
        </p:nvSpPr>
        <p:spPr>
          <a:xfrm>
            <a:off x="6373368" y="1819656"/>
            <a:ext cx="320040" cy="182880"/>
          </a:xfrm>
          <a:prstGeom prst="rect">
            <a:avLst/>
          </a:prstGeom>
          <a:noFill/>
          <a:ln/>
        </p:spPr>
        <p:txBody>
          <a:bodyPr wrap="square" lIns="0" tIns="0" rIns="0" bIns="0" rtlCol="0" anchor="ctr"/>
          <a:lstStyle/>
          <a:p>
            <a:pPr marL="0" indent="0">
              <a:buNone/>
            </a:pPr>
            <a:r>
              <a:rPr lang="en-US" sz="1400" dirty="0">
                <a:solidFill>
                  <a:srgbClr val="000000"/>
                </a:solidFill>
              </a:rPr>
              <a:t>🏢</a:t>
            </a:r>
            <a:endParaRPr lang="en-US" sz="1400" dirty="0"/>
          </a:p>
        </p:txBody>
      </p:sp>
      <p:sp>
        <p:nvSpPr>
          <p:cNvPr id="13" name="Text 11"/>
          <p:cNvSpPr/>
          <p:nvPr/>
        </p:nvSpPr>
        <p:spPr>
          <a:xfrm>
            <a:off x="6766560" y="1837944"/>
            <a:ext cx="1508760" cy="164592"/>
          </a:xfrm>
          <a:prstGeom prst="rect">
            <a:avLst/>
          </a:prstGeom>
          <a:noFill/>
          <a:ln/>
        </p:spPr>
        <p:txBody>
          <a:bodyPr wrap="square" lIns="0" tIns="0" rIns="0" bIns="0" rtlCol="0" anchor="ctr">
            <a:normAutofit/>
          </a:bodyPr>
          <a:lstStyle/>
          <a:p>
            <a:pPr marL="0" indent="0">
              <a:buNone/>
            </a:pPr>
            <a:r>
              <a:rPr lang="en-US" sz="1250" b="1" dirty="0">
                <a:solidFill>
                  <a:srgbClr val="1E293B"/>
                </a:solidFill>
              </a:rPr>
              <a:t>Phòng ban</a:t>
            </a:r>
            <a:endParaRPr lang="en-US" sz="1250" dirty="0"/>
          </a:p>
        </p:txBody>
      </p:sp>
      <p:sp>
        <p:nvSpPr>
          <p:cNvPr id="14" name="Shape 12"/>
          <p:cNvSpPr/>
          <p:nvPr/>
        </p:nvSpPr>
        <p:spPr>
          <a:xfrm>
            <a:off x="9025128" y="1600200"/>
            <a:ext cx="2331720" cy="713232"/>
          </a:xfrm>
          <a:prstGeom prst="roundRect">
            <a:avLst>
              <a:gd name="adj" fmla="val 897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5" name="Text 13"/>
          <p:cNvSpPr/>
          <p:nvPr/>
        </p:nvSpPr>
        <p:spPr>
          <a:xfrm>
            <a:off x="9162288" y="1819656"/>
            <a:ext cx="320040" cy="182880"/>
          </a:xfrm>
          <a:prstGeom prst="rect">
            <a:avLst/>
          </a:prstGeom>
          <a:noFill/>
          <a:ln/>
        </p:spPr>
        <p:txBody>
          <a:bodyPr wrap="square" lIns="0" tIns="0" rIns="0" bIns="0" rtlCol="0" anchor="ctr"/>
          <a:lstStyle/>
          <a:p>
            <a:pPr marL="0" indent="0">
              <a:buNone/>
            </a:pPr>
            <a:r>
              <a:rPr lang="en-US" sz="1400" dirty="0">
                <a:solidFill>
                  <a:srgbClr val="000000"/>
                </a:solidFill>
              </a:rPr>
              <a:t>📅</a:t>
            </a:r>
            <a:endParaRPr lang="en-US" sz="1400" dirty="0"/>
          </a:p>
        </p:txBody>
      </p:sp>
      <p:sp>
        <p:nvSpPr>
          <p:cNvPr id="16" name="Text 14"/>
          <p:cNvSpPr/>
          <p:nvPr/>
        </p:nvSpPr>
        <p:spPr>
          <a:xfrm>
            <a:off x="9555480" y="1837944"/>
            <a:ext cx="1508760" cy="164592"/>
          </a:xfrm>
          <a:prstGeom prst="rect">
            <a:avLst/>
          </a:prstGeom>
          <a:noFill/>
          <a:ln/>
        </p:spPr>
        <p:txBody>
          <a:bodyPr wrap="square" lIns="0" tIns="0" rIns="0" bIns="0" rtlCol="0" anchor="ctr">
            <a:normAutofit/>
          </a:bodyPr>
          <a:lstStyle/>
          <a:p>
            <a:pPr marL="0" indent="0">
              <a:buNone/>
            </a:pPr>
            <a:r>
              <a:rPr lang="en-US" sz="1250" b="1" dirty="0">
                <a:solidFill>
                  <a:srgbClr val="1E293B"/>
                </a:solidFill>
              </a:rPr>
              <a:t>Ca làm</a:t>
            </a:r>
            <a:endParaRPr lang="en-US" sz="1250" dirty="0"/>
          </a:p>
        </p:txBody>
      </p:sp>
      <p:sp>
        <p:nvSpPr>
          <p:cNvPr id="17" name="Shape 15"/>
          <p:cNvSpPr/>
          <p:nvPr/>
        </p:nvSpPr>
        <p:spPr>
          <a:xfrm>
            <a:off x="658368" y="2651760"/>
            <a:ext cx="2331720" cy="713232"/>
          </a:xfrm>
          <a:prstGeom prst="roundRect">
            <a:avLst>
              <a:gd name="adj" fmla="val 897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8" name="Text 16"/>
          <p:cNvSpPr/>
          <p:nvPr/>
        </p:nvSpPr>
        <p:spPr>
          <a:xfrm>
            <a:off x="795528" y="2871216"/>
            <a:ext cx="320040" cy="182880"/>
          </a:xfrm>
          <a:prstGeom prst="rect">
            <a:avLst/>
          </a:prstGeom>
          <a:noFill/>
          <a:ln/>
        </p:spPr>
        <p:txBody>
          <a:bodyPr wrap="square" lIns="0" tIns="0" rIns="0" bIns="0" rtlCol="0" anchor="ctr"/>
          <a:lstStyle/>
          <a:p>
            <a:pPr marL="0" indent="0">
              <a:buNone/>
            </a:pPr>
            <a:r>
              <a:rPr lang="en-US" sz="1400" dirty="0">
                <a:solidFill>
                  <a:srgbClr val="000000"/>
                </a:solidFill>
              </a:rPr>
              <a:t>✅</a:t>
            </a:r>
            <a:endParaRPr lang="en-US" sz="1400" dirty="0"/>
          </a:p>
        </p:txBody>
      </p:sp>
      <p:sp>
        <p:nvSpPr>
          <p:cNvPr id="19" name="Text 17"/>
          <p:cNvSpPr/>
          <p:nvPr/>
        </p:nvSpPr>
        <p:spPr>
          <a:xfrm>
            <a:off x="1188720" y="2889504"/>
            <a:ext cx="1508760" cy="164592"/>
          </a:xfrm>
          <a:prstGeom prst="rect">
            <a:avLst/>
          </a:prstGeom>
          <a:noFill/>
          <a:ln/>
        </p:spPr>
        <p:txBody>
          <a:bodyPr wrap="square" lIns="0" tIns="0" rIns="0" bIns="0" rtlCol="0" anchor="ctr">
            <a:normAutofit/>
          </a:bodyPr>
          <a:lstStyle/>
          <a:p>
            <a:pPr marL="0" indent="0">
              <a:buNone/>
            </a:pPr>
            <a:r>
              <a:rPr lang="en-US" sz="1250" b="1" dirty="0">
                <a:solidFill>
                  <a:srgbClr val="1E293B"/>
                </a:solidFill>
              </a:rPr>
              <a:t>Chấm công</a:t>
            </a:r>
            <a:endParaRPr lang="en-US" sz="1250" dirty="0"/>
          </a:p>
        </p:txBody>
      </p:sp>
      <p:sp>
        <p:nvSpPr>
          <p:cNvPr id="20" name="Shape 18"/>
          <p:cNvSpPr/>
          <p:nvPr/>
        </p:nvSpPr>
        <p:spPr>
          <a:xfrm>
            <a:off x="3447288" y="2651760"/>
            <a:ext cx="2331720" cy="713232"/>
          </a:xfrm>
          <a:prstGeom prst="roundRect">
            <a:avLst>
              <a:gd name="adj" fmla="val 897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21" name="Text 19"/>
          <p:cNvSpPr/>
          <p:nvPr/>
        </p:nvSpPr>
        <p:spPr>
          <a:xfrm>
            <a:off x="3584448" y="2871216"/>
            <a:ext cx="320040" cy="182880"/>
          </a:xfrm>
          <a:prstGeom prst="rect">
            <a:avLst/>
          </a:prstGeom>
          <a:noFill/>
          <a:ln/>
        </p:spPr>
        <p:txBody>
          <a:bodyPr wrap="square" lIns="0" tIns="0" rIns="0" bIns="0" rtlCol="0" anchor="ctr"/>
          <a:lstStyle/>
          <a:p>
            <a:pPr marL="0" indent="0">
              <a:buNone/>
            </a:pPr>
            <a:r>
              <a:rPr lang="en-US" sz="1400" dirty="0">
                <a:solidFill>
                  <a:srgbClr val="000000"/>
                </a:solidFill>
              </a:rPr>
              <a:t>💰</a:t>
            </a:r>
            <a:endParaRPr lang="en-US" sz="1400" dirty="0"/>
          </a:p>
        </p:txBody>
      </p:sp>
      <p:sp>
        <p:nvSpPr>
          <p:cNvPr id="22" name="Text 20"/>
          <p:cNvSpPr/>
          <p:nvPr/>
        </p:nvSpPr>
        <p:spPr>
          <a:xfrm>
            <a:off x="3977640" y="2889504"/>
            <a:ext cx="1508760" cy="164592"/>
          </a:xfrm>
          <a:prstGeom prst="rect">
            <a:avLst/>
          </a:prstGeom>
          <a:noFill/>
          <a:ln/>
        </p:spPr>
        <p:txBody>
          <a:bodyPr wrap="square" lIns="0" tIns="0" rIns="0" bIns="0" rtlCol="0" anchor="ctr">
            <a:normAutofit/>
          </a:bodyPr>
          <a:lstStyle/>
          <a:p>
            <a:pPr marL="0" indent="0">
              <a:buNone/>
            </a:pPr>
            <a:r>
              <a:rPr lang="en-US" sz="1250" b="1" dirty="0">
                <a:solidFill>
                  <a:srgbClr val="1E293B"/>
                </a:solidFill>
              </a:rPr>
              <a:t>Tính lương</a:t>
            </a:r>
            <a:endParaRPr lang="en-US" sz="1250" dirty="0"/>
          </a:p>
        </p:txBody>
      </p:sp>
      <p:sp>
        <p:nvSpPr>
          <p:cNvPr id="23" name="Shape 21"/>
          <p:cNvSpPr/>
          <p:nvPr/>
        </p:nvSpPr>
        <p:spPr>
          <a:xfrm>
            <a:off x="6236208" y="2651760"/>
            <a:ext cx="2331720" cy="713232"/>
          </a:xfrm>
          <a:prstGeom prst="roundRect">
            <a:avLst>
              <a:gd name="adj" fmla="val 897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24" name="Text 22"/>
          <p:cNvSpPr/>
          <p:nvPr/>
        </p:nvSpPr>
        <p:spPr>
          <a:xfrm>
            <a:off x="6373368" y="2871216"/>
            <a:ext cx="320040" cy="182880"/>
          </a:xfrm>
          <a:prstGeom prst="rect">
            <a:avLst/>
          </a:prstGeom>
          <a:noFill/>
          <a:ln/>
        </p:spPr>
        <p:txBody>
          <a:bodyPr wrap="square" lIns="0" tIns="0" rIns="0" bIns="0" rtlCol="0" anchor="ctr"/>
          <a:lstStyle/>
          <a:p>
            <a:pPr marL="0" indent="0">
              <a:buNone/>
            </a:pPr>
            <a:r>
              <a:rPr lang="en-US" sz="1400" dirty="0">
                <a:solidFill>
                  <a:srgbClr val="000000"/>
                </a:solidFill>
              </a:rPr>
              <a:t>🎯</a:t>
            </a:r>
            <a:endParaRPr lang="en-US" sz="1400" dirty="0"/>
          </a:p>
        </p:txBody>
      </p:sp>
      <p:sp>
        <p:nvSpPr>
          <p:cNvPr id="25" name="Text 23"/>
          <p:cNvSpPr/>
          <p:nvPr/>
        </p:nvSpPr>
        <p:spPr>
          <a:xfrm>
            <a:off x="6766560" y="2889504"/>
            <a:ext cx="1508760" cy="164592"/>
          </a:xfrm>
          <a:prstGeom prst="rect">
            <a:avLst/>
          </a:prstGeom>
          <a:noFill/>
          <a:ln/>
        </p:spPr>
        <p:txBody>
          <a:bodyPr wrap="square" lIns="0" tIns="0" rIns="0" bIns="0" rtlCol="0" anchor="ctr">
            <a:normAutofit/>
          </a:bodyPr>
          <a:lstStyle/>
          <a:p>
            <a:pPr marL="0" indent="0">
              <a:buNone/>
            </a:pPr>
            <a:r>
              <a:rPr lang="en-US" sz="1250" b="1" dirty="0">
                <a:solidFill>
                  <a:srgbClr val="1E293B"/>
                </a:solidFill>
              </a:rPr>
              <a:t>KPI</a:t>
            </a:r>
            <a:endParaRPr lang="en-US" sz="1250" dirty="0"/>
          </a:p>
        </p:txBody>
      </p:sp>
      <p:sp>
        <p:nvSpPr>
          <p:cNvPr id="26" name="Shape 24"/>
          <p:cNvSpPr/>
          <p:nvPr/>
        </p:nvSpPr>
        <p:spPr>
          <a:xfrm>
            <a:off x="9025128" y="2651760"/>
            <a:ext cx="2331720" cy="713232"/>
          </a:xfrm>
          <a:prstGeom prst="roundRect">
            <a:avLst>
              <a:gd name="adj" fmla="val 897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27" name="Text 25"/>
          <p:cNvSpPr/>
          <p:nvPr/>
        </p:nvSpPr>
        <p:spPr>
          <a:xfrm>
            <a:off x="9162288" y="2871216"/>
            <a:ext cx="320040" cy="182880"/>
          </a:xfrm>
          <a:prstGeom prst="rect">
            <a:avLst/>
          </a:prstGeom>
          <a:noFill/>
          <a:ln/>
        </p:spPr>
        <p:txBody>
          <a:bodyPr wrap="square" lIns="0" tIns="0" rIns="0" bIns="0" rtlCol="0" anchor="ctr"/>
          <a:lstStyle/>
          <a:p>
            <a:pPr marL="0" indent="0">
              <a:buNone/>
            </a:pPr>
            <a:r>
              <a:rPr lang="en-US" sz="1400" dirty="0">
                <a:solidFill>
                  <a:srgbClr val="000000"/>
                </a:solidFill>
              </a:rPr>
              <a:t>📈</a:t>
            </a:r>
            <a:endParaRPr lang="en-US" sz="1400" dirty="0"/>
          </a:p>
        </p:txBody>
      </p:sp>
      <p:sp>
        <p:nvSpPr>
          <p:cNvPr id="28" name="Text 26"/>
          <p:cNvSpPr/>
          <p:nvPr/>
        </p:nvSpPr>
        <p:spPr>
          <a:xfrm>
            <a:off x="9555480" y="2889504"/>
            <a:ext cx="1508760" cy="164592"/>
          </a:xfrm>
          <a:prstGeom prst="rect">
            <a:avLst/>
          </a:prstGeom>
          <a:noFill/>
          <a:ln/>
        </p:spPr>
        <p:txBody>
          <a:bodyPr wrap="square" lIns="0" tIns="0" rIns="0" bIns="0" rtlCol="0" anchor="ctr">
            <a:normAutofit/>
          </a:bodyPr>
          <a:lstStyle/>
          <a:p>
            <a:pPr marL="0" indent="0">
              <a:buNone/>
            </a:pPr>
            <a:r>
              <a:rPr lang="en-US" sz="1250" b="1" dirty="0">
                <a:solidFill>
                  <a:srgbClr val="1E293B"/>
                </a:solidFill>
              </a:rPr>
              <a:t>Báo cáo CSV</a:t>
            </a:r>
            <a:endParaRPr lang="en-US" sz="1250" dirty="0"/>
          </a:p>
        </p:txBody>
      </p:sp>
      <p:sp>
        <p:nvSpPr>
          <p:cNvPr id="29" name="Text 27"/>
          <p:cNvSpPr/>
          <p:nvPr/>
        </p:nvSpPr>
        <p:spPr>
          <a:xfrm>
            <a:off x="685800" y="3886200"/>
            <a:ext cx="3200400" cy="228600"/>
          </a:xfrm>
          <a:prstGeom prst="rect">
            <a:avLst/>
          </a:prstGeom>
          <a:noFill/>
          <a:ln/>
        </p:spPr>
        <p:txBody>
          <a:bodyPr wrap="square" lIns="0" tIns="0" rIns="0" bIns="0" rtlCol="0" anchor="ctr"/>
          <a:lstStyle/>
          <a:p>
            <a:pPr marL="0" indent="0">
              <a:buNone/>
            </a:pPr>
            <a:r>
              <a:rPr lang="en-US" sz="1700" b="1" dirty="0">
                <a:solidFill>
                  <a:srgbClr val="0F172A"/>
                </a:solidFill>
              </a:rPr>
              <a:t>Vai trò sử dụng</a:t>
            </a:r>
            <a:endParaRPr lang="en-US" sz="1700" dirty="0"/>
          </a:p>
        </p:txBody>
      </p:sp>
      <p:sp>
        <p:nvSpPr>
          <p:cNvPr id="30" name="Shape 28"/>
          <p:cNvSpPr/>
          <p:nvPr/>
        </p:nvSpPr>
        <p:spPr>
          <a:xfrm>
            <a:off x="694944" y="4370832"/>
            <a:ext cx="932688" cy="310896"/>
          </a:xfrm>
          <a:prstGeom prst="roundRect">
            <a:avLst>
              <a:gd name="adj" fmla="val 23529"/>
            </a:avLst>
          </a:prstGeom>
          <a:solidFill>
            <a:srgbClr val="FFFFFF"/>
          </a:solidFill>
          <a:ln w="12700">
            <a:solidFill>
              <a:srgbClr val="1A56DB">
                <a:alpha val="15000"/>
              </a:srgbClr>
            </a:solidFill>
            <a:prstDash val="solid"/>
          </a:ln>
        </p:spPr>
      </p:sp>
      <p:sp>
        <p:nvSpPr>
          <p:cNvPr id="31" name="Text 29"/>
          <p:cNvSpPr/>
          <p:nvPr/>
        </p:nvSpPr>
        <p:spPr>
          <a:xfrm>
            <a:off x="777240" y="4439412"/>
            <a:ext cx="768096" cy="109728"/>
          </a:xfrm>
          <a:prstGeom prst="rect">
            <a:avLst/>
          </a:prstGeom>
          <a:noFill/>
          <a:ln/>
        </p:spPr>
        <p:txBody>
          <a:bodyPr wrap="square" lIns="0" tIns="0" rIns="0" bIns="0" rtlCol="0" anchor="ctr">
            <a:normAutofit/>
          </a:bodyPr>
          <a:lstStyle/>
          <a:p>
            <a:pPr marL="0" indent="0" algn="ctr">
              <a:buNone/>
            </a:pPr>
            <a:r>
              <a:rPr lang="en-US" sz="780" b="1" dirty="0">
                <a:solidFill>
                  <a:srgbClr val="1A56DB"/>
                </a:solidFill>
                <a:latin typeface="Arial" pitchFamily="34" charset="0"/>
                <a:ea typeface="Arial" pitchFamily="34" charset="-122"/>
                <a:cs typeface="Arial" pitchFamily="34" charset="-120"/>
              </a:rPr>
              <a:t>Admin</a:t>
            </a:r>
            <a:endParaRPr lang="en-US" sz="780" dirty="0"/>
          </a:p>
        </p:txBody>
      </p:sp>
      <p:sp>
        <p:nvSpPr>
          <p:cNvPr id="32" name="Shape 30"/>
          <p:cNvSpPr/>
          <p:nvPr/>
        </p:nvSpPr>
        <p:spPr>
          <a:xfrm>
            <a:off x="1837944" y="4370832"/>
            <a:ext cx="932688" cy="310896"/>
          </a:xfrm>
          <a:prstGeom prst="roundRect">
            <a:avLst>
              <a:gd name="adj" fmla="val 23529"/>
            </a:avLst>
          </a:prstGeom>
          <a:solidFill>
            <a:srgbClr val="FFFFFF"/>
          </a:solidFill>
          <a:ln w="12700">
            <a:solidFill>
              <a:srgbClr val="10B981">
                <a:alpha val="15000"/>
              </a:srgbClr>
            </a:solidFill>
            <a:prstDash val="solid"/>
          </a:ln>
        </p:spPr>
      </p:sp>
      <p:sp>
        <p:nvSpPr>
          <p:cNvPr id="33" name="Text 31"/>
          <p:cNvSpPr/>
          <p:nvPr/>
        </p:nvSpPr>
        <p:spPr>
          <a:xfrm>
            <a:off x="1920240" y="4439412"/>
            <a:ext cx="768096" cy="109728"/>
          </a:xfrm>
          <a:prstGeom prst="rect">
            <a:avLst/>
          </a:prstGeom>
          <a:noFill/>
          <a:ln/>
        </p:spPr>
        <p:txBody>
          <a:bodyPr wrap="square" lIns="0" tIns="0" rIns="0" bIns="0" rtlCol="0" anchor="ctr">
            <a:normAutofit/>
          </a:bodyPr>
          <a:lstStyle/>
          <a:p>
            <a:pPr marL="0" indent="0" algn="ctr">
              <a:buNone/>
            </a:pPr>
            <a:r>
              <a:rPr lang="en-US" sz="780" b="1" dirty="0">
                <a:solidFill>
                  <a:srgbClr val="10B981"/>
                </a:solidFill>
                <a:latin typeface="Arial" pitchFamily="34" charset="0"/>
                <a:ea typeface="Arial" pitchFamily="34" charset="-122"/>
                <a:cs typeface="Arial" pitchFamily="34" charset="-120"/>
              </a:rPr>
              <a:t>HR</a:t>
            </a:r>
            <a:endParaRPr lang="en-US" sz="780" dirty="0"/>
          </a:p>
        </p:txBody>
      </p:sp>
      <p:sp>
        <p:nvSpPr>
          <p:cNvPr id="34" name="Shape 32"/>
          <p:cNvSpPr/>
          <p:nvPr/>
        </p:nvSpPr>
        <p:spPr>
          <a:xfrm>
            <a:off x="2980944" y="4370832"/>
            <a:ext cx="932688" cy="310896"/>
          </a:xfrm>
          <a:prstGeom prst="roundRect">
            <a:avLst>
              <a:gd name="adj" fmla="val 23529"/>
            </a:avLst>
          </a:prstGeom>
          <a:solidFill>
            <a:srgbClr val="FFFFFF"/>
          </a:solidFill>
          <a:ln w="12700">
            <a:solidFill>
              <a:srgbClr val="F59E0B">
                <a:alpha val="15000"/>
              </a:srgbClr>
            </a:solidFill>
            <a:prstDash val="solid"/>
          </a:ln>
        </p:spPr>
      </p:sp>
      <p:sp>
        <p:nvSpPr>
          <p:cNvPr id="35" name="Text 33"/>
          <p:cNvSpPr/>
          <p:nvPr/>
        </p:nvSpPr>
        <p:spPr>
          <a:xfrm>
            <a:off x="3063240" y="4439412"/>
            <a:ext cx="768096" cy="109728"/>
          </a:xfrm>
          <a:prstGeom prst="rect">
            <a:avLst/>
          </a:prstGeom>
          <a:noFill/>
          <a:ln/>
        </p:spPr>
        <p:txBody>
          <a:bodyPr wrap="square" lIns="0" tIns="0" rIns="0" bIns="0" rtlCol="0" anchor="ctr">
            <a:normAutofit/>
          </a:bodyPr>
          <a:lstStyle/>
          <a:p>
            <a:pPr marL="0" indent="0" algn="ctr">
              <a:buNone/>
            </a:pPr>
            <a:r>
              <a:rPr lang="en-US" sz="780" b="1" dirty="0">
                <a:solidFill>
                  <a:srgbClr val="F59E0B"/>
                </a:solidFill>
                <a:latin typeface="Arial" pitchFamily="34" charset="0"/>
                <a:ea typeface="Arial" pitchFamily="34" charset="-122"/>
                <a:cs typeface="Arial" pitchFamily="34" charset="-120"/>
              </a:rPr>
              <a:t>Kế toán</a:t>
            </a:r>
            <a:endParaRPr lang="en-US" sz="780" dirty="0"/>
          </a:p>
        </p:txBody>
      </p:sp>
      <p:sp>
        <p:nvSpPr>
          <p:cNvPr id="36" name="Shape 34"/>
          <p:cNvSpPr/>
          <p:nvPr/>
        </p:nvSpPr>
        <p:spPr>
          <a:xfrm>
            <a:off x="4123944" y="4370832"/>
            <a:ext cx="932688" cy="310896"/>
          </a:xfrm>
          <a:prstGeom prst="roundRect">
            <a:avLst>
              <a:gd name="adj" fmla="val 23529"/>
            </a:avLst>
          </a:prstGeom>
          <a:solidFill>
            <a:srgbClr val="FFFFFF"/>
          </a:solidFill>
          <a:ln w="12700">
            <a:solidFill>
              <a:srgbClr val="8B5CF6">
                <a:alpha val="15000"/>
              </a:srgbClr>
            </a:solidFill>
            <a:prstDash val="solid"/>
          </a:ln>
        </p:spPr>
      </p:sp>
      <p:sp>
        <p:nvSpPr>
          <p:cNvPr id="37" name="Text 35"/>
          <p:cNvSpPr/>
          <p:nvPr/>
        </p:nvSpPr>
        <p:spPr>
          <a:xfrm>
            <a:off x="4206240" y="4439412"/>
            <a:ext cx="768096" cy="109728"/>
          </a:xfrm>
          <a:prstGeom prst="rect">
            <a:avLst/>
          </a:prstGeom>
          <a:noFill/>
          <a:ln/>
        </p:spPr>
        <p:txBody>
          <a:bodyPr wrap="square" lIns="0" tIns="0" rIns="0" bIns="0" rtlCol="0" anchor="ctr">
            <a:normAutofit/>
          </a:bodyPr>
          <a:lstStyle/>
          <a:p>
            <a:pPr marL="0" indent="0" algn="ctr">
              <a:buNone/>
            </a:pPr>
            <a:r>
              <a:rPr lang="en-US" sz="780" b="1" dirty="0">
                <a:solidFill>
                  <a:srgbClr val="8B5CF6"/>
                </a:solidFill>
                <a:latin typeface="Arial" pitchFamily="34" charset="0"/>
                <a:ea typeface="Arial" pitchFamily="34" charset="-122"/>
                <a:cs typeface="Arial" pitchFamily="34" charset="-120"/>
              </a:rPr>
              <a:t>Quản lý</a:t>
            </a:r>
            <a:endParaRPr lang="en-US" sz="780" dirty="0"/>
          </a:p>
        </p:txBody>
      </p:sp>
      <p:sp>
        <p:nvSpPr>
          <p:cNvPr id="38" name="Shape 36"/>
          <p:cNvSpPr/>
          <p:nvPr/>
        </p:nvSpPr>
        <p:spPr>
          <a:xfrm>
            <a:off x="5266944" y="4370832"/>
            <a:ext cx="932688" cy="310896"/>
          </a:xfrm>
          <a:prstGeom prst="roundRect">
            <a:avLst>
              <a:gd name="adj" fmla="val 23529"/>
            </a:avLst>
          </a:prstGeom>
          <a:solidFill>
            <a:srgbClr val="FFFFFF"/>
          </a:solidFill>
          <a:ln w="12700">
            <a:solidFill>
              <a:srgbClr val="64748B">
                <a:alpha val="15000"/>
              </a:srgbClr>
            </a:solidFill>
            <a:prstDash val="solid"/>
          </a:ln>
        </p:spPr>
      </p:sp>
      <p:sp>
        <p:nvSpPr>
          <p:cNvPr id="39" name="Text 37"/>
          <p:cNvSpPr/>
          <p:nvPr/>
        </p:nvSpPr>
        <p:spPr>
          <a:xfrm>
            <a:off x="5349240" y="4439412"/>
            <a:ext cx="768096" cy="109728"/>
          </a:xfrm>
          <a:prstGeom prst="rect">
            <a:avLst/>
          </a:prstGeom>
          <a:noFill/>
          <a:ln/>
        </p:spPr>
        <p:txBody>
          <a:bodyPr wrap="square" lIns="0" tIns="0" rIns="0" bIns="0" rtlCol="0" anchor="ctr">
            <a:normAutofit/>
          </a:bodyPr>
          <a:lstStyle/>
          <a:p>
            <a:pPr marL="0" indent="0" algn="ctr">
              <a:buNone/>
            </a:pPr>
            <a:r>
              <a:rPr lang="en-US" sz="780" b="1" dirty="0">
                <a:solidFill>
                  <a:srgbClr val="64748B"/>
                </a:solidFill>
                <a:latin typeface="Arial" pitchFamily="34" charset="0"/>
                <a:ea typeface="Arial" pitchFamily="34" charset="-122"/>
                <a:cs typeface="Arial" pitchFamily="34" charset="-120"/>
              </a:rPr>
              <a:t>Nhân viên</a:t>
            </a:r>
            <a:endParaRPr lang="en-US" sz="780" dirty="0"/>
          </a:p>
        </p:txBody>
      </p:sp>
      <p:sp>
        <p:nvSpPr>
          <p:cNvPr id="40" name="Text 38"/>
          <p:cNvSpPr/>
          <p:nvPr/>
        </p:nvSpPr>
        <p:spPr>
          <a:xfrm>
            <a:off x="713232" y="4828032"/>
            <a:ext cx="5669280" cy="292608"/>
          </a:xfrm>
          <a:prstGeom prst="rect">
            <a:avLst/>
          </a:prstGeom>
          <a:noFill/>
          <a:ln/>
        </p:spPr>
        <p:txBody>
          <a:bodyPr wrap="square" lIns="0" tIns="0" rIns="0" bIns="0" rtlCol="0" anchor="ctr">
            <a:normAutofit/>
          </a:bodyPr>
          <a:lstStyle/>
          <a:p>
            <a:pPr marL="0" indent="0">
              <a:buNone/>
            </a:pPr>
            <a:r>
              <a:rPr lang="en-US" sz="920" dirty="0">
                <a:solidFill>
                  <a:srgbClr val="64748B"/>
                </a:solidFill>
              </a:rPr>
              <a:t>Admin: toàn hệ thống · HR: nhân sự · Kế toán: lương · Quản lý: KPI/công · Nhân viên: xem cá nhân</a:t>
            </a:r>
            <a:endParaRPr lang="en-US" sz="920" dirty="0"/>
          </a:p>
        </p:txBody>
      </p:sp>
      <p:sp>
        <p:nvSpPr>
          <p:cNvPr id="41" name="Text 39"/>
          <p:cNvSpPr/>
          <p:nvPr/>
        </p:nvSpPr>
        <p:spPr>
          <a:xfrm>
            <a:off x="7360920" y="3886200"/>
            <a:ext cx="3200400" cy="228600"/>
          </a:xfrm>
          <a:prstGeom prst="rect">
            <a:avLst/>
          </a:prstGeom>
          <a:noFill/>
          <a:ln/>
        </p:spPr>
        <p:txBody>
          <a:bodyPr wrap="square" lIns="0" tIns="0" rIns="0" bIns="0" rtlCol="0" anchor="ctr"/>
          <a:lstStyle/>
          <a:p>
            <a:pPr marL="0" indent="0">
              <a:buNone/>
            </a:pPr>
            <a:r>
              <a:rPr lang="en-US" sz="1700" b="1" dirty="0">
                <a:solidFill>
                  <a:srgbClr val="0F172A"/>
                </a:solidFill>
              </a:rPr>
              <a:t>Điểm đáng chú ý</a:t>
            </a:r>
            <a:endParaRPr lang="en-US" sz="1700" dirty="0"/>
          </a:p>
        </p:txBody>
      </p:sp>
      <p:sp>
        <p:nvSpPr>
          <p:cNvPr id="42" name="Text 40"/>
          <p:cNvSpPr/>
          <p:nvPr/>
        </p:nvSpPr>
        <p:spPr>
          <a:xfrm>
            <a:off x="7543800" y="4370832"/>
            <a:ext cx="3657600" cy="256032"/>
          </a:xfrm>
          <a:prstGeom prst="rect">
            <a:avLst/>
          </a:prstGeom>
          <a:noFill/>
          <a:ln/>
        </p:spPr>
        <p:txBody>
          <a:bodyPr wrap="square" lIns="0" tIns="0" rIns="0" bIns="0" rtlCol="0" anchor="ctr">
            <a:normAutofit/>
          </a:bodyPr>
          <a:lstStyle/>
          <a:p>
            <a:r>
              <a:rPr lang="en-US" sz="1250" dirty="0">
                <a:solidFill>
                  <a:srgbClr val="1E293B"/>
                </a:solidFill>
                <a:latin typeface="Arial" pitchFamily="34" charset="0"/>
                <a:ea typeface="Arial" pitchFamily="34" charset="-122"/>
                <a:cs typeface="Arial" pitchFamily="34" charset="-120"/>
              </a:rPr>
              <a:t>Phân quyền hiển thị theo data-roles.</a:t>
            </a:r>
            <a:endParaRPr lang="en-US" sz="1250" dirty="0"/>
          </a:p>
        </p:txBody>
      </p:sp>
      <p:sp>
        <p:nvSpPr>
          <p:cNvPr id="43" name="Text 41"/>
          <p:cNvSpPr/>
          <p:nvPr/>
        </p:nvSpPr>
        <p:spPr>
          <a:xfrm>
            <a:off x="7543800" y="4782312"/>
            <a:ext cx="3657600" cy="256032"/>
          </a:xfrm>
          <a:prstGeom prst="rect">
            <a:avLst/>
          </a:prstGeom>
          <a:noFill/>
          <a:ln/>
        </p:spPr>
        <p:txBody>
          <a:bodyPr wrap="square" lIns="0" tIns="0" rIns="0" bIns="0" rtlCol="0" anchor="ctr">
            <a:normAutofit/>
          </a:bodyPr>
          <a:lstStyle/>
          <a:p>
            <a:r>
              <a:rPr lang="en-US" sz="1250" dirty="0">
                <a:solidFill>
                  <a:srgbClr val="1E293B"/>
                </a:solidFill>
                <a:latin typeface="Arial" pitchFamily="34" charset="0"/>
                <a:ea typeface="Arial" pitchFamily="34" charset="-122"/>
                <a:cs typeface="Arial" pitchFamily="34" charset="-120"/>
              </a:rPr>
              <a:t>Dữ liệu demo lưu bằng localStorage.</a:t>
            </a:r>
            <a:endParaRPr lang="en-US" sz="1250" dirty="0"/>
          </a:p>
        </p:txBody>
      </p:sp>
      <p:sp>
        <p:nvSpPr>
          <p:cNvPr id="44" name="Text 42"/>
          <p:cNvSpPr/>
          <p:nvPr/>
        </p:nvSpPr>
        <p:spPr>
          <a:xfrm>
            <a:off x="7543800" y="5193792"/>
            <a:ext cx="3657600" cy="256032"/>
          </a:xfrm>
          <a:prstGeom prst="rect">
            <a:avLst/>
          </a:prstGeom>
          <a:noFill/>
          <a:ln/>
        </p:spPr>
        <p:txBody>
          <a:bodyPr wrap="square" lIns="0" tIns="0" rIns="0" bIns="0" rtlCol="0" anchor="ctr">
            <a:normAutofit/>
          </a:bodyPr>
          <a:lstStyle/>
          <a:p>
            <a:r>
              <a:rPr lang="en-US" sz="1250" dirty="0">
                <a:solidFill>
                  <a:srgbClr val="1E293B"/>
                </a:solidFill>
                <a:latin typeface="Arial" pitchFamily="34" charset="0"/>
                <a:ea typeface="Arial" pitchFamily="34" charset="-122"/>
                <a:cs typeface="Arial" pitchFamily="34" charset="-120"/>
              </a:rPr>
              <a:t>Phiên đăng nhập lưu bằng sessionStorage.</a:t>
            </a:r>
            <a:endParaRPr lang="en-US" sz="1250" dirty="0"/>
          </a:p>
        </p:txBody>
      </p:sp>
      <p:sp>
        <p:nvSpPr>
          <p:cNvPr id="4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03 · KIẾN TRÚC</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Kiến trúc triển khai frontend SPA</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HRPro được tổ chức thành 3 tầng logic: giao diện, xử lý nghiệp vụ và lưu trữ cục bộ.</a:t>
            </a:r>
            <a:endParaRPr lang="en-US" sz="1350" dirty="0"/>
          </a:p>
        </p:txBody>
      </p:sp>
      <p:sp>
        <p:nvSpPr>
          <p:cNvPr id="5" name="Shape 3"/>
          <p:cNvSpPr/>
          <p:nvPr/>
        </p:nvSpPr>
        <p:spPr>
          <a:xfrm>
            <a:off x="658368" y="1481328"/>
            <a:ext cx="5486400" cy="4480560"/>
          </a:xfrm>
          <a:prstGeom prst="roundRect">
            <a:avLst>
              <a:gd name="adj" fmla="val 1429"/>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pic>
        <p:nvPicPr>
          <p:cNvPr id="6" name="Image 0" descr="/mnt/data/report_images/image2.png"/>
          <p:cNvPicPr>
            <a:picLocks noChangeAspect="1"/>
          </p:cNvPicPr>
          <p:nvPr/>
        </p:nvPicPr>
        <p:blipFill>
          <a:blip r:embed="rId3"/>
          <a:stretch>
            <a:fillRect/>
          </a:stretch>
        </p:blipFill>
        <p:spPr>
          <a:xfrm>
            <a:off x="931748" y="1783080"/>
            <a:ext cx="4948785" cy="3566160"/>
          </a:xfrm>
          <a:prstGeom prst="rect">
            <a:avLst/>
          </a:prstGeom>
        </p:spPr>
      </p:pic>
      <p:sp>
        <p:nvSpPr>
          <p:cNvPr id="7" name="Text 4"/>
          <p:cNvSpPr/>
          <p:nvPr/>
        </p:nvSpPr>
        <p:spPr>
          <a:xfrm>
            <a:off x="6629400" y="1645920"/>
            <a:ext cx="2926080" cy="274320"/>
          </a:xfrm>
          <a:prstGeom prst="rect">
            <a:avLst/>
          </a:prstGeom>
          <a:noFill/>
          <a:ln/>
        </p:spPr>
        <p:txBody>
          <a:bodyPr wrap="square" lIns="0" tIns="0" rIns="0" bIns="0" rtlCol="0" anchor="ctr"/>
          <a:lstStyle/>
          <a:p>
            <a:pPr marL="0" indent="0">
              <a:buNone/>
            </a:pPr>
            <a:r>
              <a:rPr lang="en-US" sz="1700" b="1" dirty="0">
                <a:solidFill>
                  <a:srgbClr val="0F172A"/>
                </a:solidFill>
              </a:rPr>
              <a:t>Luồng xử lý</a:t>
            </a:r>
            <a:endParaRPr lang="en-US" sz="1700" dirty="0"/>
          </a:p>
        </p:txBody>
      </p:sp>
      <p:sp>
        <p:nvSpPr>
          <p:cNvPr id="8" name="Shape 5"/>
          <p:cNvSpPr/>
          <p:nvPr/>
        </p:nvSpPr>
        <p:spPr>
          <a:xfrm>
            <a:off x="6693408" y="2148840"/>
            <a:ext cx="1508760" cy="384048"/>
          </a:xfrm>
          <a:prstGeom prst="roundRect">
            <a:avLst>
              <a:gd name="adj" fmla="val 19048"/>
            </a:avLst>
          </a:prstGeom>
          <a:solidFill>
            <a:srgbClr val="EFF6FF"/>
          </a:solidFill>
          <a:ln w="12700">
            <a:solidFill>
              <a:srgbClr val="1A56DB"/>
            </a:solidFill>
            <a:prstDash val="solid"/>
          </a:ln>
        </p:spPr>
      </p:sp>
      <p:sp>
        <p:nvSpPr>
          <p:cNvPr id="9" name="Text 6"/>
          <p:cNvSpPr/>
          <p:nvPr/>
        </p:nvSpPr>
        <p:spPr>
          <a:xfrm>
            <a:off x="6766560" y="2240280"/>
            <a:ext cx="1362456" cy="237744"/>
          </a:xfrm>
          <a:prstGeom prst="rect">
            <a:avLst/>
          </a:prstGeom>
          <a:noFill/>
          <a:ln/>
        </p:spPr>
        <p:txBody>
          <a:bodyPr wrap="square" lIns="0" tIns="0" rIns="0" bIns="0" rtlCol="0" anchor="ctr">
            <a:normAutofit/>
          </a:bodyPr>
          <a:lstStyle/>
          <a:p>
            <a:pPr marL="0" indent="0" algn="ctr">
              <a:buNone/>
            </a:pPr>
            <a:r>
              <a:rPr lang="en-US" sz="1050" b="1" dirty="0">
                <a:solidFill>
                  <a:srgbClr val="1E293B"/>
                </a:solidFill>
                <a:latin typeface="Arial" pitchFamily="34" charset="0"/>
                <a:ea typeface="Arial" pitchFamily="34" charset="-122"/>
                <a:cs typeface="Arial" pitchFamily="34" charset="-120"/>
              </a:rPr>
              <a:t>index.html</a:t>
            </a:r>
            <a:endParaRPr lang="en-US" sz="1050" dirty="0"/>
          </a:p>
        </p:txBody>
      </p:sp>
      <p:sp>
        <p:nvSpPr>
          <p:cNvPr id="10" name="Text 7"/>
          <p:cNvSpPr/>
          <p:nvPr/>
        </p:nvSpPr>
        <p:spPr>
          <a:xfrm>
            <a:off x="8394192" y="2231136"/>
            <a:ext cx="2834640" cy="182880"/>
          </a:xfrm>
          <a:prstGeom prst="rect">
            <a:avLst/>
          </a:prstGeom>
          <a:noFill/>
          <a:ln/>
        </p:spPr>
        <p:txBody>
          <a:bodyPr wrap="square" lIns="0" tIns="0" rIns="0" bIns="0" rtlCol="0" anchor="ctr">
            <a:normAutofit/>
          </a:bodyPr>
          <a:lstStyle/>
          <a:p>
            <a:pPr marL="0" indent="0">
              <a:buNone/>
            </a:pPr>
            <a:r>
              <a:rPr lang="en-US" sz="1120" dirty="0">
                <a:solidFill>
                  <a:srgbClr val="1E293B"/>
                </a:solidFill>
              </a:rPr>
              <a:t>Khung giao diện và các vùng page</a:t>
            </a:r>
            <a:endParaRPr lang="en-US" sz="1120" dirty="0"/>
          </a:p>
        </p:txBody>
      </p:sp>
      <p:sp>
        <p:nvSpPr>
          <p:cNvPr id="11" name="Shape 8"/>
          <p:cNvSpPr/>
          <p:nvPr/>
        </p:nvSpPr>
        <p:spPr>
          <a:xfrm>
            <a:off x="7434072" y="2560320"/>
            <a:ext cx="0" cy="246888"/>
          </a:xfrm>
          <a:prstGeom prst="line">
            <a:avLst/>
          </a:prstGeom>
          <a:noFill/>
          <a:ln w="17780">
            <a:solidFill>
              <a:srgbClr val="64748B"/>
            </a:solidFill>
            <a:prstDash val="solid"/>
            <a:headEnd type="none"/>
            <a:tailEnd type="triangle"/>
          </a:ln>
        </p:spPr>
      </p:sp>
      <p:sp>
        <p:nvSpPr>
          <p:cNvPr id="12" name="Shape 9"/>
          <p:cNvSpPr/>
          <p:nvPr/>
        </p:nvSpPr>
        <p:spPr>
          <a:xfrm>
            <a:off x="6693408" y="2926080"/>
            <a:ext cx="1508760" cy="384048"/>
          </a:xfrm>
          <a:prstGeom prst="roundRect">
            <a:avLst>
              <a:gd name="adj" fmla="val 19048"/>
            </a:avLst>
          </a:prstGeom>
          <a:solidFill>
            <a:srgbClr val="EFF6FF"/>
          </a:solidFill>
          <a:ln w="12700">
            <a:solidFill>
              <a:srgbClr val="1A56DB"/>
            </a:solidFill>
            <a:prstDash val="solid"/>
          </a:ln>
        </p:spPr>
      </p:sp>
      <p:sp>
        <p:nvSpPr>
          <p:cNvPr id="13" name="Text 10"/>
          <p:cNvSpPr/>
          <p:nvPr/>
        </p:nvSpPr>
        <p:spPr>
          <a:xfrm>
            <a:off x="6766560" y="3017520"/>
            <a:ext cx="1362456" cy="237744"/>
          </a:xfrm>
          <a:prstGeom prst="rect">
            <a:avLst/>
          </a:prstGeom>
          <a:noFill/>
          <a:ln/>
        </p:spPr>
        <p:txBody>
          <a:bodyPr wrap="square" lIns="0" tIns="0" rIns="0" bIns="0" rtlCol="0" anchor="ctr">
            <a:normAutofit/>
          </a:bodyPr>
          <a:lstStyle/>
          <a:p>
            <a:pPr marL="0" indent="0" algn="ctr">
              <a:buNone/>
            </a:pPr>
            <a:r>
              <a:rPr lang="en-US" sz="1050" b="1" dirty="0">
                <a:solidFill>
                  <a:srgbClr val="1E293B"/>
                </a:solidFill>
                <a:latin typeface="Arial" pitchFamily="34" charset="0"/>
                <a:ea typeface="Arial" pitchFamily="34" charset="-122"/>
                <a:cs typeface="Arial" pitchFamily="34" charset="-120"/>
              </a:rPr>
              <a:t>style.css</a:t>
            </a:r>
            <a:endParaRPr lang="en-US" sz="1050" dirty="0"/>
          </a:p>
        </p:txBody>
      </p:sp>
      <p:sp>
        <p:nvSpPr>
          <p:cNvPr id="14" name="Text 11"/>
          <p:cNvSpPr/>
          <p:nvPr/>
        </p:nvSpPr>
        <p:spPr>
          <a:xfrm>
            <a:off x="8394192" y="3008376"/>
            <a:ext cx="2834640" cy="182880"/>
          </a:xfrm>
          <a:prstGeom prst="rect">
            <a:avLst/>
          </a:prstGeom>
          <a:noFill/>
          <a:ln/>
        </p:spPr>
        <p:txBody>
          <a:bodyPr wrap="square" lIns="0" tIns="0" rIns="0" bIns="0" rtlCol="0" anchor="ctr">
            <a:normAutofit/>
          </a:bodyPr>
          <a:lstStyle/>
          <a:p>
            <a:pPr marL="0" indent="0">
              <a:buNone/>
            </a:pPr>
            <a:r>
              <a:rPr lang="en-US" sz="1120" dirty="0">
                <a:solidFill>
                  <a:srgbClr val="1E293B"/>
                </a:solidFill>
              </a:rPr>
              <a:t>Bố cục, responsive, card, modal, utility</a:t>
            </a:r>
            <a:endParaRPr lang="en-US" sz="1120" dirty="0"/>
          </a:p>
        </p:txBody>
      </p:sp>
      <p:sp>
        <p:nvSpPr>
          <p:cNvPr id="15" name="Shape 12"/>
          <p:cNvSpPr/>
          <p:nvPr/>
        </p:nvSpPr>
        <p:spPr>
          <a:xfrm>
            <a:off x="7434072" y="3337560"/>
            <a:ext cx="0" cy="246888"/>
          </a:xfrm>
          <a:prstGeom prst="line">
            <a:avLst/>
          </a:prstGeom>
          <a:noFill/>
          <a:ln w="17780">
            <a:solidFill>
              <a:srgbClr val="64748B"/>
            </a:solidFill>
            <a:prstDash val="solid"/>
            <a:headEnd type="none"/>
            <a:tailEnd type="triangle"/>
          </a:ln>
        </p:spPr>
      </p:sp>
      <p:sp>
        <p:nvSpPr>
          <p:cNvPr id="16" name="Shape 13"/>
          <p:cNvSpPr/>
          <p:nvPr/>
        </p:nvSpPr>
        <p:spPr>
          <a:xfrm>
            <a:off x="6693408" y="3703320"/>
            <a:ext cx="1508760" cy="384048"/>
          </a:xfrm>
          <a:prstGeom prst="roundRect">
            <a:avLst>
              <a:gd name="adj" fmla="val 19048"/>
            </a:avLst>
          </a:prstGeom>
          <a:solidFill>
            <a:srgbClr val="FFFBEB"/>
          </a:solidFill>
          <a:ln w="12700">
            <a:solidFill>
              <a:srgbClr val="F59E0B"/>
            </a:solidFill>
            <a:prstDash val="solid"/>
          </a:ln>
        </p:spPr>
      </p:sp>
      <p:sp>
        <p:nvSpPr>
          <p:cNvPr id="17" name="Text 14"/>
          <p:cNvSpPr/>
          <p:nvPr/>
        </p:nvSpPr>
        <p:spPr>
          <a:xfrm>
            <a:off x="6766560" y="3794760"/>
            <a:ext cx="1362456" cy="237744"/>
          </a:xfrm>
          <a:prstGeom prst="rect">
            <a:avLst/>
          </a:prstGeom>
          <a:noFill/>
          <a:ln/>
        </p:spPr>
        <p:txBody>
          <a:bodyPr wrap="square" lIns="0" tIns="0" rIns="0" bIns="0" rtlCol="0" anchor="ctr">
            <a:normAutofit/>
          </a:bodyPr>
          <a:lstStyle/>
          <a:p>
            <a:pPr marL="0" indent="0" algn="ctr">
              <a:buNone/>
            </a:pPr>
            <a:r>
              <a:rPr lang="en-US" sz="1050" b="1" dirty="0">
                <a:solidFill>
                  <a:srgbClr val="1E293B"/>
                </a:solidFill>
                <a:latin typeface="Arial" pitchFamily="34" charset="0"/>
                <a:ea typeface="Arial" pitchFamily="34" charset="-122"/>
                <a:cs typeface="Arial" pitchFamily="34" charset="-120"/>
              </a:rPr>
              <a:t>app.js</a:t>
            </a:r>
            <a:endParaRPr lang="en-US" sz="1050" dirty="0"/>
          </a:p>
        </p:txBody>
      </p:sp>
      <p:sp>
        <p:nvSpPr>
          <p:cNvPr id="18" name="Text 15"/>
          <p:cNvSpPr/>
          <p:nvPr/>
        </p:nvSpPr>
        <p:spPr>
          <a:xfrm>
            <a:off x="8394192" y="3785616"/>
            <a:ext cx="2834640" cy="182880"/>
          </a:xfrm>
          <a:prstGeom prst="rect">
            <a:avLst/>
          </a:prstGeom>
          <a:noFill/>
          <a:ln/>
        </p:spPr>
        <p:txBody>
          <a:bodyPr wrap="square" lIns="0" tIns="0" rIns="0" bIns="0" rtlCol="0" anchor="ctr">
            <a:normAutofit/>
          </a:bodyPr>
          <a:lstStyle/>
          <a:p>
            <a:pPr marL="0" indent="0">
              <a:buNone/>
            </a:pPr>
            <a:r>
              <a:rPr lang="en-US" sz="1120" dirty="0">
                <a:solidFill>
                  <a:srgbClr val="1E293B"/>
                </a:solidFill>
              </a:rPr>
              <a:t>Dữ liệu, CRUD, phân quyền, chấm công, lương, KPI</a:t>
            </a:r>
            <a:endParaRPr lang="en-US" sz="1120" dirty="0"/>
          </a:p>
        </p:txBody>
      </p:sp>
      <p:sp>
        <p:nvSpPr>
          <p:cNvPr id="19" name="Shape 16"/>
          <p:cNvSpPr/>
          <p:nvPr/>
        </p:nvSpPr>
        <p:spPr>
          <a:xfrm>
            <a:off x="7434072" y="4114800"/>
            <a:ext cx="0" cy="246888"/>
          </a:xfrm>
          <a:prstGeom prst="line">
            <a:avLst/>
          </a:prstGeom>
          <a:noFill/>
          <a:ln w="17780">
            <a:solidFill>
              <a:srgbClr val="64748B"/>
            </a:solidFill>
            <a:prstDash val="solid"/>
            <a:headEnd type="none"/>
            <a:tailEnd type="triangle"/>
          </a:ln>
        </p:spPr>
      </p:sp>
      <p:sp>
        <p:nvSpPr>
          <p:cNvPr id="20" name="Shape 17"/>
          <p:cNvSpPr/>
          <p:nvPr/>
        </p:nvSpPr>
        <p:spPr>
          <a:xfrm>
            <a:off x="6693408" y="4480560"/>
            <a:ext cx="1508760" cy="384048"/>
          </a:xfrm>
          <a:prstGeom prst="roundRect">
            <a:avLst>
              <a:gd name="adj" fmla="val 19048"/>
            </a:avLst>
          </a:prstGeom>
          <a:solidFill>
            <a:srgbClr val="EFF6FF"/>
          </a:solidFill>
          <a:ln w="12700">
            <a:solidFill>
              <a:srgbClr val="1A56DB"/>
            </a:solidFill>
            <a:prstDash val="solid"/>
          </a:ln>
        </p:spPr>
      </p:sp>
      <p:sp>
        <p:nvSpPr>
          <p:cNvPr id="21" name="Text 18"/>
          <p:cNvSpPr/>
          <p:nvPr/>
        </p:nvSpPr>
        <p:spPr>
          <a:xfrm>
            <a:off x="6766560" y="4572000"/>
            <a:ext cx="1362456" cy="237744"/>
          </a:xfrm>
          <a:prstGeom prst="rect">
            <a:avLst/>
          </a:prstGeom>
          <a:noFill/>
          <a:ln/>
        </p:spPr>
        <p:txBody>
          <a:bodyPr wrap="square" lIns="0" tIns="0" rIns="0" bIns="0" rtlCol="0" anchor="ctr">
            <a:normAutofit/>
          </a:bodyPr>
          <a:lstStyle/>
          <a:p>
            <a:pPr marL="0" indent="0" algn="ctr">
              <a:buNone/>
            </a:pPr>
            <a:r>
              <a:rPr lang="en-US" sz="1050" b="1" dirty="0">
                <a:solidFill>
                  <a:srgbClr val="1E293B"/>
                </a:solidFill>
                <a:latin typeface="Arial" pitchFamily="34" charset="0"/>
                <a:ea typeface="Arial" pitchFamily="34" charset="-122"/>
                <a:cs typeface="Arial" pitchFamily="34" charset="-120"/>
              </a:rPr>
              <a:t>localStorage</a:t>
            </a:r>
            <a:endParaRPr lang="en-US" sz="1050" dirty="0"/>
          </a:p>
        </p:txBody>
      </p:sp>
      <p:sp>
        <p:nvSpPr>
          <p:cNvPr id="22" name="Text 19"/>
          <p:cNvSpPr/>
          <p:nvPr/>
        </p:nvSpPr>
        <p:spPr>
          <a:xfrm>
            <a:off x="8394192" y="4562856"/>
            <a:ext cx="2834640" cy="182880"/>
          </a:xfrm>
          <a:prstGeom prst="rect">
            <a:avLst/>
          </a:prstGeom>
          <a:noFill/>
          <a:ln/>
        </p:spPr>
        <p:txBody>
          <a:bodyPr wrap="square" lIns="0" tIns="0" rIns="0" bIns="0" rtlCol="0" anchor="ctr">
            <a:normAutofit/>
          </a:bodyPr>
          <a:lstStyle/>
          <a:p>
            <a:pPr marL="0" indent="0">
              <a:buNone/>
            </a:pPr>
            <a:r>
              <a:rPr lang="en-US" sz="1120" dirty="0">
                <a:solidFill>
                  <a:srgbClr val="1E293B"/>
                </a:solidFill>
              </a:rPr>
              <a:t>Lưu DB demo qua các lần refresh</a:t>
            </a:r>
            <a:endParaRPr lang="en-US" sz="1120" dirty="0"/>
          </a:p>
        </p:txBody>
      </p:sp>
      <p:sp>
        <p:nvSpPr>
          <p:cNvPr id="23" name="Shape 20"/>
          <p:cNvSpPr/>
          <p:nvPr/>
        </p:nvSpPr>
        <p:spPr>
          <a:xfrm>
            <a:off x="6675120" y="5440680"/>
            <a:ext cx="4434840" cy="502920"/>
          </a:xfrm>
          <a:prstGeom prst="roundRect">
            <a:avLst>
              <a:gd name="adj" fmla="val 10909"/>
            </a:avLst>
          </a:prstGeom>
          <a:solidFill>
            <a:srgbClr val="F0FDF4"/>
          </a:solidFill>
          <a:ln w="12700">
            <a:solidFill>
              <a:srgbClr val="BBF7D0"/>
            </a:solidFill>
            <a:prstDash val="solid"/>
          </a:ln>
        </p:spPr>
      </p:sp>
      <p:sp>
        <p:nvSpPr>
          <p:cNvPr id="24" name="Text 21"/>
          <p:cNvSpPr/>
          <p:nvPr/>
        </p:nvSpPr>
        <p:spPr>
          <a:xfrm>
            <a:off x="6903720" y="5623560"/>
            <a:ext cx="3931920" cy="137160"/>
          </a:xfrm>
          <a:prstGeom prst="rect">
            <a:avLst/>
          </a:prstGeom>
          <a:noFill/>
          <a:ln/>
        </p:spPr>
        <p:txBody>
          <a:bodyPr wrap="square" lIns="0" tIns="0" rIns="0" bIns="0" rtlCol="0" anchor="ctr">
            <a:normAutofit/>
          </a:bodyPr>
          <a:lstStyle/>
          <a:p>
            <a:pPr marL="0" indent="0">
              <a:buNone/>
            </a:pPr>
            <a:r>
              <a:rPr lang="en-US" sz="1050" b="1" dirty="0">
                <a:solidFill>
                  <a:srgbClr val="0F766E"/>
                </a:solidFill>
              </a:rPr>
              <a:t>Ưu điểm: dễ chạy demo, không cần server, dễ đọc cấu trúc mã nguồn.</a:t>
            </a:r>
            <a:endParaRPr lang="en-US" sz="1050" dirty="0"/>
          </a:p>
        </p:txBody>
      </p:sp>
      <p:sp>
        <p:nvSpPr>
          <p:cNvPr id="2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04 · DATA MODEL</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Thiết kế dữ liệu sau cập nhật</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Điểm cập nhật quan trọng: ca làm việc không còn đặt trực tiếp trong Employee mà tách ra bảng quan hệ nhiều-nhiều.</a:t>
            </a:r>
            <a:endParaRPr lang="en-US" sz="1350" dirty="0"/>
          </a:p>
        </p:txBody>
      </p:sp>
      <p:sp>
        <p:nvSpPr>
          <p:cNvPr id="5" name="Shape 3"/>
          <p:cNvSpPr/>
          <p:nvPr/>
        </p:nvSpPr>
        <p:spPr>
          <a:xfrm>
            <a:off x="3246120" y="2743200"/>
            <a:ext cx="914400" cy="0"/>
          </a:xfrm>
          <a:prstGeom prst="line">
            <a:avLst/>
          </a:prstGeom>
          <a:noFill/>
          <a:ln w="17780">
            <a:solidFill>
              <a:srgbClr val="1A56DB"/>
            </a:solidFill>
            <a:prstDash val="solid"/>
            <a:headEnd type="none"/>
            <a:tailEnd type="triangle"/>
          </a:ln>
        </p:spPr>
      </p:sp>
      <p:sp>
        <p:nvSpPr>
          <p:cNvPr id="6" name="Shape 4"/>
          <p:cNvSpPr/>
          <p:nvPr/>
        </p:nvSpPr>
        <p:spPr>
          <a:xfrm>
            <a:off x="5715000" y="2743200"/>
            <a:ext cx="914400" cy="0"/>
          </a:xfrm>
          <a:prstGeom prst="line">
            <a:avLst/>
          </a:prstGeom>
          <a:noFill/>
          <a:ln w="17780">
            <a:solidFill>
              <a:srgbClr val="10B981"/>
            </a:solidFill>
            <a:prstDash val="solid"/>
            <a:headEnd type="none"/>
            <a:tailEnd type="triangle"/>
          </a:ln>
        </p:spPr>
      </p:sp>
      <p:sp>
        <p:nvSpPr>
          <p:cNvPr id="7" name="Shape 5"/>
          <p:cNvSpPr/>
          <p:nvPr/>
        </p:nvSpPr>
        <p:spPr>
          <a:xfrm>
            <a:off x="2331720" y="3383280"/>
            <a:ext cx="0" cy="822960"/>
          </a:xfrm>
          <a:prstGeom prst="line">
            <a:avLst/>
          </a:prstGeom>
          <a:noFill/>
          <a:ln w="17780">
            <a:solidFill>
              <a:srgbClr val="F59E0B"/>
            </a:solidFill>
            <a:prstDash val="solid"/>
            <a:headEnd type="none"/>
            <a:tailEnd type="triangle"/>
          </a:ln>
        </p:spPr>
      </p:sp>
      <p:sp>
        <p:nvSpPr>
          <p:cNvPr id="8" name="Shape 6"/>
          <p:cNvSpPr/>
          <p:nvPr/>
        </p:nvSpPr>
        <p:spPr>
          <a:xfrm>
            <a:off x="777240" y="2240280"/>
            <a:ext cx="2514600" cy="960120"/>
          </a:xfrm>
          <a:prstGeom prst="roundRect">
            <a:avLst>
              <a:gd name="adj" fmla="val 7619"/>
            </a:avLst>
          </a:prstGeom>
          <a:solidFill>
            <a:srgbClr val="EFF6FF"/>
          </a:solidFill>
          <a:ln w="12700">
            <a:solidFill>
              <a:srgbClr val="1A56DB"/>
            </a:solidFill>
            <a:prstDash val="solid"/>
          </a:ln>
        </p:spPr>
      </p:sp>
      <p:sp>
        <p:nvSpPr>
          <p:cNvPr id="9" name="Text 7"/>
          <p:cNvSpPr/>
          <p:nvPr/>
        </p:nvSpPr>
        <p:spPr>
          <a:xfrm>
            <a:off x="850392" y="2331720"/>
            <a:ext cx="2368296" cy="813816"/>
          </a:xfrm>
          <a:prstGeom prst="rect">
            <a:avLst/>
          </a:prstGeom>
          <a:noFill/>
          <a:ln/>
        </p:spPr>
        <p:txBody>
          <a:bodyPr wrap="square" lIns="0" tIns="0" rIns="0" bIns="0" rtlCol="0" anchor="ctr">
            <a:normAutofit/>
          </a:bodyPr>
          <a:lstStyle/>
          <a:p>
            <a:pPr marL="0" indent="0" algn="ctr">
              <a:buNone/>
            </a:pPr>
            <a:r>
              <a:rPr lang="en-US" sz="1100" b="1" dirty="0">
                <a:solidFill>
                  <a:srgbClr val="1E293B"/>
                </a:solidFill>
                <a:latin typeface="Arial" pitchFamily="34" charset="0"/>
                <a:ea typeface="Arial" pitchFamily="34" charset="-122"/>
                <a:cs typeface="Arial" pitchFamily="34" charset="-120"/>
              </a:rPr>
              <a:t>Employee</a:t>
            </a:r>
            <a:endParaRPr lang="en-US" sz="1100" dirty="0"/>
          </a:p>
          <a:p>
            <a:pPr marL="0" indent="0" algn="ctr">
              <a:buNone/>
            </a:pPr>
            <a:r>
              <a:rPr lang="en-US" sz="1100" b="1" dirty="0">
                <a:solidFill>
                  <a:srgbClr val="1E293B"/>
                </a:solidFill>
                <a:latin typeface="Arial" pitchFamily="34" charset="0"/>
                <a:ea typeface="Arial" pitchFamily="34" charset="-122"/>
                <a:cs typeface="Arial" pitchFamily="34" charset="-120"/>
              </a:rPr>
              <a:t>(id, name, dept, salary, status)</a:t>
            </a:r>
            <a:endParaRPr lang="en-US" sz="1100" dirty="0"/>
          </a:p>
        </p:txBody>
      </p:sp>
      <p:sp>
        <p:nvSpPr>
          <p:cNvPr id="10" name="Shape 8"/>
          <p:cNvSpPr/>
          <p:nvPr/>
        </p:nvSpPr>
        <p:spPr>
          <a:xfrm>
            <a:off x="4069080" y="2240280"/>
            <a:ext cx="1874520" cy="960120"/>
          </a:xfrm>
          <a:prstGeom prst="roundRect">
            <a:avLst>
              <a:gd name="adj" fmla="val 7619"/>
            </a:avLst>
          </a:prstGeom>
          <a:solidFill>
            <a:srgbClr val="F0FDF4"/>
          </a:solidFill>
          <a:ln w="12700">
            <a:solidFill>
              <a:srgbClr val="10B981"/>
            </a:solidFill>
            <a:prstDash val="solid"/>
          </a:ln>
        </p:spPr>
      </p:sp>
      <p:sp>
        <p:nvSpPr>
          <p:cNvPr id="11" name="Text 9"/>
          <p:cNvSpPr/>
          <p:nvPr/>
        </p:nvSpPr>
        <p:spPr>
          <a:xfrm>
            <a:off x="4142232" y="2331720"/>
            <a:ext cx="1728216" cy="813816"/>
          </a:xfrm>
          <a:prstGeom prst="rect">
            <a:avLst/>
          </a:prstGeom>
          <a:noFill/>
          <a:ln/>
        </p:spPr>
        <p:txBody>
          <a:bodyPr wrap="square" lIns="0" tIns="0" rIns="0" bIns="0" rtlCol="0" anchor="ctr">
            <a:normAutofit/>
          </a:bodyPr>
          <a:lstStyle/>
          <a:p>
            <a:pPr marL="0" indent="0" algn="ctr">
              <a:buNone/>
            </a:pPr>
            <a:r>
              <a:rPr lang="en-US" sz="1050" b="1" dirty="0">
                <a:solidFill>
                  <a:srgbClr val="1E293B"/>
                </a:solidFill>
                <a:latin typeface="Arial" pitchFamily="34" charset="0"/>
                <a:ea typeface="Arial" pitchFamily="34" charset="-122"/>
                <a:cs typeface="Arial" pitchFamily="34" charset="-120"/>
              </a:rPr>
              <a:t>employeeShifts</a:t>
            </a:r>
            <a:endParaRPr lang="en-US" sz="1050" dirty="0"/>
          </a:p>
          <a:p>
            <a:pPr marL="0" indent="0" algn="ctr">
              <a:buNone/>
            </a:pPr>
            <a:r>
              <a:rPr lang="en-US" sz="1050" b="1" dirty="0">
                <a:solidFill>
                  <a:srgbClr val="1E293B"/>
                </a:solidFill>
                <a:latin typeface="Arial" pitchFamily="34" charset="0"/>
                <a:ea typeface="Arial" pitchFamily="34" charset="-122"/>
                <a:cs typeface="Arial" pitchFamily="34" charset="-120"/>
              </a:rPr>
              <a:t>(empId, shiftCode, isPrimary)</a:t>
            </a:r>
            <a:endParaRPr lang="en-US" sz="1050" dirty="0"/>
          </a:p>
        </p:txBody>
      </p:sp>
      <p:sp>
        <p:nvSpPr>
          <p:cNvPr id="12" name="Shape 10"/>
          <p:cNvSpPr/>
          <p:nvPr/>
        </p:nvSpPr>
        <p:spPr>
          <a:xfrm>
            <a:off x="6656832" y="2240280"/>
            <a:ext cx="2331720" cy="960120"/>
          </a:xfrm>
          <a:prstGeom prst="roundRect">
            <a:avLst>
              <a:gd name="adj" fmla="val 7619"/>
            </a:avLst>
          </a:prstGeom>
          <a:solidFill>
            <a:srgbClr val="FFFBEB"/>
          </a:solidFill>
          <a:ln w="12700">
            <a:solidFill>
              <a:srgbClr val="F59E0B"/>
            </a:solidFill>
            <a:prstDash val="solid"/>
          </a:ln>
        </p:spPr>
      </p:sp>
      <p:sp>
        <p:nvSpPr>
          <p:cNvPr id="13" name="Text 11"/>
          <p:cNvSpPr/>
          <p:nvPr/>
        </p:nvSpPr>
        <p:spPr>
          <a:xfrm>
            <a:off x="6729984" y="2331720"/>
            <a:ext cx="2185416" cy="813816"/>
          </a:xfrm>
          <a:prstGeom prst="rect">
            <a:avLst/>
          </a:prstGeom>
          <a:noFill/>
          <a:ln/>
        </p:spPr>
        <p:txBody>
          <a:bodyPr wrap="square" lIns="0" tIns="0" rIns="0" bIns="0" rtlCol="0" anchor="ctr">
            <a:normAutofit/>
          </a:bodyPr>
          <a:lstStyle/>
          <a:p>
            <a:pPr marL="0" indent="0" algn="ctr">
              <a:buNone/>
            </a:pPr>
            <a:r>
              <a:rPr lang="en-US" sz="1050" b="1" dirty="0">
                <a:solidFill>
                  <a:srgbClr val="1E293B"/>
                </a:solidFill>
                <a:latin typeface="Arial" pitchFamily="34" charset="0"/>
                <a:ea typeface="Arial" pitchFamily="34" charset="-122"/>
                <a:cs typeface="Arial" pitchFamily="34" charset="-120"/>
              </a:rPr>
              <a:t>Shift</a:t>
            </a:r>
            <a:endParaRPr lang="en-US" sz="1050" dirty="0"/>
          </a:p>
          <a:p>
            <a:pPr marL="0" indent="0" algn="ctr">
              <a:buNone/>
            </a:pPr>
            <a:r>
              <a:rPr lang="en-US" sz="1050" b="1" dirty="0">
                <a:solidFill>
                  <a:srgbClr val="1E293B"/>
                </a:solidFill>
                <a:latin typeface="Arial" pitchFamily="34" charset="0"/>
                <a:ea typeface="Arial" pitchFamily="34" charset="-122"/>
                <a:cs typeface="Arial" pitchFamily="34" charset="-120"/>
              </a:rPr>
              <a:t>(code, start, end, grace, ot)</a:t>
            </a:r>
            <a:endParaRPr lang="en-US" sz="1050" dirty="0"/>
          </a:p>
        </p:txBody>
      </p:sp>
      <p:sp>
        <p:nvSpPr>
          <p:cNvPr id="14" name="Shape 12"/>
          <p:cNvSpPr/>
          <p:nvPr/>
        </p:nvSpPr>
        <p:spPr>
          <a:xfrm>
            <a:off x="896112" y="4224528"/>
            <a:ext cx="2834640" cy="822960"/>
          </a:xfrm>
          <a:prstGeom prst="roundRect">
            <a:avLst>
              <a:gd name="adj" fmla="val 8889"/>
            </a:avLst>
          </a:prstGeom>
          <a:solidFill>
            <a:srgbClr val="FEF2F2"/>
          </a:solidFill>
          <a:ln w="12700">
            <a:solidFill>
              <a:srgbClr val="EF4444"/>
            </a:solidFill>
            <a:prstDash val="solid"/>
          </a:ln>
        </p:spPr>
      </p:sp>
      <p:sp>
        <p:nvSpPr>
          <p:cNvPr id="15" name="Text 13"/>
          <p:cNvSpPr/>
          <p:nvPr/>
        </p:nvSpPr>
        <p:spPr>
          <a:xfrm>
            <a:off x="969264" y="4315968"/>
            <a:ext cx="2688336" cy="676656"/>
          </a:xfrm>
          <a:prstGeom prst="rect">
            <a:avLst/>
          </a:prstGeom>
          <a:noFill/>
          <a:ln/>
        </p:spPr>
        <p:txBody>
          <a:bodyPr wrap="square" lIns="0" tIns="0" rIns="0" bIns="0" rtlCol="0" anchor="ctr">
            <a:normAutofit/>
          </a:bodyPr>
          <a:lstStyle/>
          <a:p>
            <a:pPr marL="0" indent="0" algn="ctr">
              <a:buNone/>
            </a:pPr>
            <a:r>
              <a:rPr lang="en-US" sz="1050" b="1" dirty="0">
                <a:solidFill>
                  <a:srgbClr val="1E293B"/>
                </a:solidFill>
                <a:latin typeface="Arial" pitchFamily="34" charset="0"/>
                <a:ea typeface="Arial" pitchFamily="34" charset="-122"/>
                <a:cs typeface="Arial" pitchFamily="34" charset="-120"/>
              </a:rPr>
              <a:t>Attendance</a:t>
            </a:r>
            <a:endParaRPr lang="en-US" sz="1050" dirty="0"/>
          </a:p>
          <a:p>
            <a:pPr marL="0" indent="0" algn="ctr">
              <a:buNone/>
            </a:pPr>
            <a:r>
              <a:rPr lang="en-US" sz="1050" b="1" dirty="0">
                <a:solidFill>
                  <a:srgbClr val="1E293B"/>
                </a:solidFill>
                <a:latin typeface="Arial" pitchFamily="34" charset="0"/>
                <a:ea typeface="Arial" pitchFamily="34" charset="-122"/>
                <a:cs typeface="Arial" pitchFamily="34" charset="-120"/>
              </a:rPr>
              <a:t>(date → empId → [records theo ca])</a:t>
            </a:r>
            <a:endParaRPr lang="en-US" sz="1050" dirty="0"/>
          </a:p>
        </p:txBody>
      </p:sp>
      <p:sp>
        <p:nvSpPr>
          <p:cNvPr id="16" name="Shape 14"/>
          <p:cNvSpPr/>
          <p:nvPr/>
        </p:nvSpPr>
        <p:spPr>
          <a:xfrm>
            <a:off x="9281160" y="1737360"/>
            <a:ext cx="2240280" cy="3611880"/>
          </a:xfrm>
          <a:prstGeom prst="roundRect">
            <a:avLst>
              <a:gd name="adj" fmla="val 2857"/>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7" name="Text 15"/>
          <p:cNvSpPr/>
          <p:nvPr/>
        </p:nvSpPr>
        <p:spPr>
          <a:xfrm>
            <a:off x="9528048" y="2029968"/>
            <a:ext cx="1737360" cy="228600"/>
          </a:xfrm>
          <a:prstGeom prst="rect">
            <a:avLst/>
          </a:prstGeom>
          <a:noFill/>
          <a:ln/>
        </p:spPr>
        <p:txBody>
          <a:bodyPr wrap="square" lIns="0" tIns="0" rIns="0" bIns="0" rtlCol="0" anchor="ctr"/>
          <a:lstStyle/>
          <a:p>
            <a:pPr marL="0" indent="0" algn="ctr">
              <a:buNone/>
            </a:pPr>
            <a:r>
              <a:rPr lang="en-US" sz="1400" b="1" dirty="0">
                <a:solidFill>
                  <a:srgbClr val="0F172A"/>
                </a:solidFill>
              </a:rPr>
              <a:t>Vì sao cần tách bảng?</a:t>
            </a:r>
            <a:endParaRPr lang="en-US" sz="1400" dirty="0"/>
          </a:p>
        </p:txBody>
      </p:sp>
      <p:sp>
        <p:nvSpPr>
          <p:cNvPr id="18" name="Text 16"/>
          <p:cNvSpPr/>
          <p:nvPr/>
        </p:nvSpPr>
        <p:spPr>
          <a:xfrm>
            <a:off x="9555480" y="2542032"/>
            <a:ext cx="1600200" cy="310896"/>
          </a:xfrm>
          <a:prstGeom prst="rect">
            <a:avLst/>
          </a:prstGeom>
          <a:noFill/>
          <a:ln/>
        </p:spPr>
        <p:txBody>
          <a:bodyPr wrap="square" lIns="0" tIns="0" rIns="0" bIns="0" rtlCol="0" anchor="ctr">
            <a:normAutofit/>
          </a:bodyPr>
          <a:lstStyle/>
          <a:p>
            <a:r>
              <a:rPr lang="en-US" sz="1020" dirty="0">
                <a:solidFill>
                  <a:srgbClr val="1E293B"/>
                </a:solidFill>
                <a:latin typeface="Arial" pitchFamily="34" charset="0"/>
                <a:ea typeface="Arial" pitchFamily="34" charset="-122"/>
                <a:cs typeface="Arial" pitchFamily="34" charset="-120"/>
              </a:rPr>
              <a:t>Một nhân viên có thể làm ca chiều và tối.</a:t>
            </a:r>
            <a:endParaRPr lang="en-US" sz="1020" dirty="0"/>
          </a:p>
        </p:txBody>
      </p:sp>
      <p:sp>
        <p:nvSpPr>
          <p:cNvPr id="19" name="Text 17"/>
          <p:cNvSpPr/>
          <p:nvPr/>
        </p:nvSpPr>
        <p:spPr>
          <a:xfrm>
            <a:off x="9555480" y="3044952"/>
            <a:ext cx="1600200" cy="310896"/>
          </a:xfrm>
          <a:prstGeom prst="rect">
            <a:avLst/>
          </a:prstGeom>
          <a:noFill/>
          <a:ln/>
        </p:spPr>
        <p:txBody>
          <a:bodyPr wrap="square" lIns="0" tIns="0" rIns="0" bIns="0" rtlCol="0" anchor="ctr">
            <a:normAutofit/>
          </a:bodyPr>
          <a:lstStyle/>
          <a:p>
            <a:r>
              <a:rPr lang="en-US" sz="1020" dirty="0">
                <a:solidFill>
                  <a:srgbClr val="1E293B"/>
                </a:solidFill>
                <a:latin typeface="Arial" pitchFamily="34" charset="0"/>
                <a:ea typeface="Arial" pitchFamily="34" charset="-122"/>
                <a:cs typeface="Arial" pitchFamily="34" charset="-120"/>
              </a:rPr>
              <a:t>Dữ liệu scale tốt hơn khi thêm ca.</a:t>
            </a:r>
            <a:endParaRPr lang="en-US" sz="1020" dirty="0"/>
          </a:p>
        </p:txBody>
      </p:sp>
      <p:sp>
        <p:nvSpPr>
          <p:cNvPr id="20" name="Text 18"/>
          <p:cNvSpPr/>
          <p:nvPr/>
        </p:nvSpPr>
        <p:spPr>
          <a:xfrm>
            <a:off x="9555480" y="3547872"/>
            <a:ext cx="1600200" cy="310896"/>
          </a:xfrm>
          <a:prstGeom prst="rect">
            <a:avLst/>
          </a:prstGeom>
          <a:noFill/>
          <a:ln/>
        </p:spPr>
        <p:txBody>
          <a:bodyPr wrap="square" lIns="0" tIns="0" rIns="0" bIns="0" rtlCol="0" anchor="ctr">
            <a:normAutofit/>
          </a:bodyPr>
          <a:lstStyle/>
          <a:p>
            <a:r>
              <a:rPr lang="en-US" sz="1020" dirty="0">
                <a:solidFill>
                  <a:srgbClr val="1E293B"/>
                </a:solidFill>
                <a:latin typeface="Arial" pitchFamily="34" charset="0"/>
                <a:ea typeface="Arial" pitchFamily="34" charset="-122"/>
                <a:cs typeface="Arial" pitchFamily="34" charset="-120"/>
              </a:rPr>
              <a:t>Attendance tạo nhiều record trong cùng ngày.</a:t>
            </a:r>
            <a:endParaRPr lang="en-US" sz="1020" dirty="0"/>
          </a:p>
        </p:txBody>
      </p:sp>
      <p:sp>
        <p:nvSpPr>
          <p:cNvPr id="21" name="Text 19"/>
          <p:cNvSpPr/>
          <p:nvPr/>
        </p:nvSpPr>
        <p:spPr>
          <a:xfrm>
            <a:off x="9555480" y="4050792"/>
            <a:ext cx="1600200" cy="310896"/>
          </a:xfrm>
          <a:prstGeom prst="rect">
            <a:avLst/>
          </a:prstGeom>
          <a:noFill/>
          <a:ln/>
        </p:spPr>
        <p:txBody>
          <a:bodyPr wrap="square" lIns="0" tIns="0" rIns="0" bIns="0" rtlCol="0" anchor="ctr">
            <a:normAutofit/>
          </a:bodyPr>
          <a:lstStyle/>
          <a:p>
            <a:r>
              <a:rPr lang="en-US" sz="1020" dirty="0">
                <a:solidFill>
                  <a:srgbClr val="1E293B"/>
                </a:solidFill>
                <a:latin typeface="Arial" pitchFamily="34" charset="0"/>
                <a:ea typeface="Arial" pitchFamily="34" charset="-122"/>
                <a:cs typeface="Arial" pitchFamily="34" charset="-120"/>
              </a:rPr>
              <a:t>Không phá dữ liệu cũ nhờ migration.</a:t>
            </a:r>
            <a:endParaRPr lang="en-US" sz="1020" dirty="0"/>
          </a:p>
        </p:txBody>
      </p:sp>
      <p:sp>
        <p:nvSpPr>
          <p:cNvPr id="22" name="Text 20"/>
          <p:cNvSpPr/>
          <p:nvPr/>
        </p:nvSpPr>
        <p:spPr>
          <a:xfrm>
            <a:off x="822960" y="5285232"/>
            <a:ext cx="2286000" cy="228600"/>
          </a:xfrm>
          <a:prstGeom prst="rect">
            <a:avLst/>
          </a:prstGeom>
          <a:noFill/>
          <a:ln/>
        </p:spPr>
        <p:txBody>
          <a:bodyPr wrap="square" lIns="0" tIns="0" rIns="0" bIns="0" rtlCol="0" anchor="ctr"/>
          <a:lstStyle/>
          <a:p>
            <a:pPr marL="0" indent="0">
              <a:buNone/>
            </a:pPr>
            <a:r>
              <a:rPr lang="en-US" sz="1400" b="1" dirty="0">
                <a:solidFill>
                  <a:srgbClr val="0F172A"/>
                </a:solidFill>
              </a:rPr>
              <a:t>Cấu trúc mới trong DB</a:t>
            </a:r>
            <a:endParaRPr lang="en-US" sz="1400" dirty="0"/>
          </a:p>
        </p:txBody>
      </p:sp>
      <p:sp>
        <p:nvSpPr>
          <p:cNvPr id="23" name="Text 21"/>
          <p:cNvSpPr/>
          <p:nvPr/>
        </p:nvSpPr>
        <p:spPr>
          <a:xfrm>
            <a:off x="841248" y="5632704"/>
            <a:ext cx="8183880" cy="411480"/>
          </a:xfrm>
          <a:prstGeom prst="rect">
            <a:avLst/>
          </a:prstGeom>
          <a:noFill/>
          <a:ln/>
        </p:spPr>
        <p:txBody>
          <a:bodyPr wrap="square" lIns="381" tIns="381" rIns="381" bIns="381" rtlCol="0" anchor="ctr">
            <a:normAutofit/>
          </a:bodyPr>
          <a:lstStyle/>
          <a:p>
            <a:pPr marL="0" indent="0">
              <a:buNone/>
            </a:pPr>
            <a:r>
              <a:rPr lang="en-US" sz="980" dirty="0">
                <a:solidFill>
                  <a:srgbClr val="1E293B"/>
                </a:solidFill>
                <a:latin typeface="Courier New" pitchFamily="34" charset="0"/>
                <a:ea typeface="Courier New" pitchFamily="34" charset="-122"/>
                <a:cs typeface="Courier New" pitchFamily="34" charset="-120"/>
              </a:rPr>
              <a:t>employeeShifts: [{ empId, shiftCode, isPrimary }]</a:t>
            </a:r>
            <a:endParaRPr lang="en-US" sz="980" dirty="0"/>
          </a:p>
          <a:p>
            <a:pPr marL="0" indent="0">
              <a:buNone/>
            </a:pPr>
            <a:r>
              <a:rPr lang="en-US" sz="980" dirty="0">
                <a:solidFill>
                  <a:srgbClr val="1E293B"/>
                </a:solidFill>
                <a:latin typeface="Courier New" pitchFamily="34" charset="0"/>
                <a:ea typeface="Courier New" pitchFamily="34" charset="-122"/>
                <a:cs typeface="Courier New" pitchFamily="34" charset="-120"/>
              </a:rPr>
              <a:t>attendance: { date: { empId: [ { shiftCode, in, out, status } ] } }</a:t>
            </a:r>
            <a:endParaRPr lang="en-US" sz="980" dirty="0"/>
          </a:p>
        </p:txBody>
      </p:sp>
      <p:sp>
        <p:nvSpPr>
          <p:cNvPr id="2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05 · MULTI-SELECT CA</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Luồng phân ca nhiều lựa chọn</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UI vẫn quen thuộc với người dùng, nhưng phía dữ liệu đã đổi sang quan hệ nhiều-nhiều.</a:t>
            </a:r>
            <a:endParaRPr lang="en-US" sz="1350" dirty="0"/>
          </a:p>
        </p:txBody>
      </p:sp>
      <p:sp>
        <p:nvSpPr>
          <p:cNvPr id="5" name="Shape 3"/>
          <p:cNvSpPr/>
          <p:nvPr/>
        </p:nvSpPr>
        <p:spPr>
          <a:xfrm>
            <a:off x="777240" y="1828800"/>
            <a:ext cx="2331720" cy="2148840"/>
          </a:xfrm>
          <a:prstGeom prst="roundRect">
            <a:avLst>
              <a:gd name="adj" fmla="val 2979"/>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6" name="Shape 4"/>
          <p:cNvSpPr/>
          <p:nvPr/>
        </p:nvSpPr>
        <p:spPr>
          <a:xfrm>
            <a:off x="960120" y="2029968"/>
            <a:ext cx="411480" cy="411480"/>
          </a:xfrm>
          <a:prstGeom prst="ellipse">
            <a:avLst/>
          </a:prstGeom>
          <a:solidFill>
            <a:srgbClr val="1A56DB"/>
          </a:solidFill>
          <a:ln w="12700">
            <a:solidFill>
              <a:srgbClr val="333333">
                <a:alpha val="0"/>
              </a:srgbClr>
            </a:solidFill>
            <a:prstDash val="solid"/>
          </a:ln>
        </p:spPr>
      </p:sp>
      <p:sp>
        <p:nvSpPr>
          <p:cNvPr id="7" name="Text 5"/>
          <p:cNvSpPr/>
          <p:nvPr/>
        </p:nvSpPr>
        <p:spPr>
          <a:xfrm>
            <a:off x="960120" y="2148840"/>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6"/>
          <p:cNvSpPr/>
          <p:nvPr/>
        </p:nvSpPr>
        <p:spPr>
          <a:xfrm>
            <a:off x="1435608" y="2057400"/>
            <a:ext cx="1325880" cy="365760"/>
          </a:xfrm>
          <a:prstGeom prst="rect">
            <a:avLst/>
          </a:prstGeom>
          <a:noFill/>
          <a:ln/>
        </p:spPr>
        <p:txBody>
          <a:bodyPr wrap="square" lIns="0" tIns="0" rIns="0" bIns="0" rtlCol="0" anchor="ctr">
            <a:normAutofit/>
          </a:bodyPr>
          <a:lstStyle/>
          <a:p>
            <a:pPr marL="0" indent="0">
              <a:buNone/>
            </a:pPr>
            <a:r>
              <a:rPr lang="en-US" sz="1380" b="1" dirty="0">
                <a:solidFill>
                  <a:srgbClr val="0F172A"/>
                </a:solidFill>
              </a:rPr>
              <a:t>Mở form nhân viên</a:t>
            </a:r>
            <a:endParaRPr lang="en-US" sz="1380" dirty="0"/>
          </a:p>
        </p:txBody>
      </p:sp>
      <p:sp>
        <p:nvSpPr>
          <p:cNvPr id="9" name="Text 7"/>
          <p:cNvSpPr/>
          <p:nvPr/>
        </p:nvSpPr>
        <p:spPr>
          <a:xfrm>
            <a:off x="1033272" y="2743200"/>
            <a:ext cx="1783080" cy="502920"/>
          </a:xfrm>
          <a:prstGeom prst="rect">
            <a:avLst/>
          </a:prstGeom>
          <a:noFill/>
          <a:ln/>
        </p:spPr>
        <p:txBody>
          <a:bodyPr wrap="square" lIns="0" tIns="0" rIns="0" bIns="0" rtlCol="0" anchor="ctr">
            <a:normAutofit/>
          </a:bodyPr>
          <a:lstStyle/>
          <a:p>
            <a:pPr marL="0" indent="0">
              <a:buNone/>
            </a:pPr>
            <a:r>
              <a:rPr lang="en-US" sz="1080" dirty="0">
                <a:solidFill>
                  <a:srgbClr val="1E293B"/>
                </a:solidFill>
              </a:rPr>
              <a:t>HR/Admin thêm hoặc sửa hồ sơ</a:t>
            </a:r>
            <a:endParaRPr lang="en-US" sz="1080" dirty="0"/>
          </a:p>
        </p:txBody>
      </p:sp>
      <p:sp>
        <p:nvSpPr>
          <p:cNvPr id="10" name="Shape 8"/>
          <p:cNvSpPr/>
          <p:nvPr/>
        </p:nvSpPr>
        <p:spPr>
          <a:xfrm>
            <a:off x="3200400" y="2880360"/>
            <a:ext cx="274320" cy="0"/>
          </a:xfrm>
          <a:prstGeom prst="line">
            <a:avLst/>
          </a:prstGeom>
          <a:noFill/>
          <a:ln w="17780">
            <a:solidFill>
              <a:srgbClr val="64748B"/>
            </a:solidFill>
            <a:prstDash val="solid"/>
            <a:headEnd type="none"/>
            <a:tailEnd type="triangle"/>
          </a:ln>
        </p:spPr>
      </p:sp>
      <p:sp>
        <p:nvSpPr>
          <p:cNvPr id="11" name="Shape 9"/>
          <p:cNvSpPr/>
          <p:nvPr/>
        </p:nvSpPr>
        <p:spPr>
          <a:xfrm>
            <a:off x="3566160" y="1828800"/>
            <a:ext cx="2331720" cy="2148840"/>
          </a:xfrm>
          <a:prstGeom prst="roundRect">
            <a:avLst>
              <a:gd name="adj" fmla="val 2979"/>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2" name="Shape 10"/>
          <p:cNvSpPr/>
          <p:nvPr/>
        </p:nvSpPr>
        <p:spPr>
          <a:xfrm>
            <a:off x="3749040" y="2029968"/>
            <a:ext cx="411480" cy="411480"/>
          </a:xfrm>
          <a:prstGeom prst="ellipse">
            <a:avLst/>
          </a:prstGeom>
          <a:solidFill>
            <a:srgbClr val="1A56DB"/>
          </a:solidFill>
          <a:ln w="12700">
            <a:solidFill>
              <a:srgbClr val="333333">
                <a:alpha val="0"/>
              </a:srgbClr>
            </a:solidFill>
            <a:prstDash val="solid"/>
          </a:ln>
        </p:spPr>
      </p:sp>
      <p:sp>
        <p:nvSpPr>
          <p:cNvPr id="13" name="Text 11"/>
          <p:cNvSpPr/>
          <p:nvPr/>
        </p:nvSpPr>
        <p:spPr>
          <a:xfrm>
            <a:off x="3749040" y="2148840"/>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Text 12"/>
          <p:cNvSpPr/>
          <p:nvPr/>
        </p:nvSpPr>
        <p:spPr>
          <a:xfrm>
            <a:off x="4224528" y="2057400"/>
            <a:ext cx="1325880" cy="365760"/>
          </a:xfrm>
          <a:prstGeom prst="rect">
            <a:avLst/>
          </a:prstGeom>
          <a:noFill/>
          <a:ln/>
        </p:spPr>
        <p:txBody>
          <a:bodyPr wrap="square" lIns="0" tIns="0" rIns="0" bIns="0" rtlCol="0" anchor="ctr">
            <a:normAutofit/>
          </a:bodyPr>
          <a:lstStyle/>
          <a:p>
            <a:pPr marL="0" indent="0">
              <a:buNone/>
            </a:pPr>
            <a:r>
              <a:rPr lang="en-US" sz="1380" b="1" dirty="0">
                <a:solidFill>
                  <a:srgbClr val="0F172A"/>
                </a:solidFill>
              </a:rPr>
              <a:t>Chọn nhiều ca</a:t>
            </a:r>
            <a:endParaRPr lang="en-US" sz="1380" dirty="0"/>
          </a:p>
        </p:txBody>
      </p:sp>
      <p:sp>
        <p:nvSpPr>
          <p:cNvPr id="15" name="Text 13"/>
          <p:cNvSpPr/>
          <p:nvPr/>
        </p:nvSpPr>
        <p:spPr>
          <a:xfrm>
            <a:off x="3822192" y="2743200"/>
            <a:ext cx="1783080" cy="502920"/>
          </a:xfrm>
          <a:prstGeom prst="rect">
            <a:avLst/>
          </a:prstGeom>
          <a:noFill/>
          <a:ln/>
        </p:spPr>
        <p:txBody>
          <a:bodyPr wrap="square" lIns="0" tIns="0" rIns="0" bIns="0" rtlCol="0" anchor="ctr">
            <a:normAutofit/>
          </a:bodyPr>
          <a:lstStyle/>
          <a:p>
            <a:pPr marL="0" indent="0">
              <a:buNone/>
            </a:pPr>
            <a:r>
              <a:rPr lang="en-US" sz="1080" dirty="0">
                <a:solidFill>
                  <a:srgbClr val="1E293B"/>
                </a:solidFill>
              </a:rPr>
              <a:t>select multiple: Hành chính, Ca chiều, Ca đêm...</a:t>
            </a:r>
            <a:endParaRPr lang="en-US" sz="1080" dirty="0"/>
          </a:p>
        </p:txBody>
      </p:sp>
      <p:sp>
        <p:nvSpPr>
          <p:cNvPr id="16" name="Shape 14"/>
          <p:cNvSpPr/>
          <p:nvPr/>
        </p:nvSpPr>
        <p:spPr>
          <a:xfrm>
            <a:off x="5989320" y="2880360"/>
            <a:ext cx="274320" cy="0"/>
          </a:xfrm>
          <a:prstGeom prst="line">
            <a:avLst/>
          </a:prstGeom>
          <a:noFill/>
          <a:ln w="17780">
            <a:solidFill>
              <a:srgbClr val="64748B"/>
            </a:solidFill>
            <a:prstDash val="solid"/>
            <a:headEnd type="none"/>
            <a:tailEnd type="triangle"/>
          </a:ln>
        </p:spPr>
      </p:sp>
      <p:sp>
        <p:nvSpPr>
          <p:cNvPr id="17" name="Shape 15"/>
          <p:cNvSpPr/>
          <p:nvPr/>
        </p:nvSpPr>
        <p:spPr>
          <a:xfrm>
            <a:off x="6355080" y="1828800"/>
            <a:ext cx="2331720" cy="2148840"/>
          </a:xfrm>
          <a:prstGeom prst="roundRect">
            <a:avLst>
              <a:gd name="adj" fmla="val 2979"/>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8" name="Shape 16"/>
          <p:cNvSpPr/>
          <p:nvPr/>
        </p:nvSpPr>
        <p:spPr>
          <a:xfrm>
            <a:off x="6537960" y="2029968"/>
            <a:ext cx="411480" cy="411480"/>
          </a:xfrm>
          <a:prstGeom prst="ellipse">
            <a:avLst/>
          </a:prstGeom>
          <a:solidFill>
            <a:srgbClr val="1A56DB"/>
          </a:solidFill>
          <a:ln w="12700">
            <a:solidFill>
              <a:srgbClr val="333333">
                <a:alpha val="0"/>
              </a:srgbClr>
            </a:solidFill>
            <a:prstDash val="solid"/>
          </a:ln>
        </p:spPr>
      </p:sp>
      <p:sp>
        <p:nvSpPr>
          <p:cNvPr id="19" name="Text 17"/>
          <p:cNvSpPr/>
          <p:nvPr/>
        </p:nvSpPr>
        <p:spPr>
          <a:xfrm>
            <a:off x="6537960" y="2148840"/>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0" name="Text 18"/>
          <p:cNvSpPr/>
          <p:nvPr/>
        </p:nvSpPr>
        <p:spPr>
          <a:xfrm>
            <a:off x="7013448" y="2057400"/>
            <a:ext cx="1325880" cy="365760"/>
          </a:xfrm>
          <a:prstGeom prst="rect">
            <a:avLst/>
          </a:prstGeom>
          <a:noFill/>
          <a:ln/>
        </p:spPr>
        <p:txBody>
          <a:bodyPr wrap="square" lIns="0" tIns="0" rIns="0" bIns="0" rtlCol="0" anchor="ctr">
            <a:normAutofit/>
          </a:bodyPr>
          <a:lstStyle/>
          <a:p>
            <a:pPr marL="0" indent="0">
              <a:buNone/>
            </a:pPr>
            <a:r>
              <a:rPr lang="en-US" sz="1380" b="1" dirty="0">
                <a:solidFill>
                  <a:srgbClr val="0F172A"/>
                </a:solidFill>
              </a:rPr>
              <a:t>Lưu liên kết</a:t>
            </a:r>
            <a:endParaRPr lang="en-US" sz="1380" dirty="0"/>
          </a:p>
        </p:txBody>
      </p:sp>
      <p:sp>
        <p:nvSpPr>
          <p:cNvPr id="21" name="Text 19"/>
          <p:cNvSpPr/>
          <p:nvPr/>
        </p:nvSpPr>
        <p:spPr>
          <a:xfrm>
            <a:off x="6611112" y="2743200"/>
            <a:ext cx="1783080" cy="502920"/>
          </a:xfrm>
          <a:prstGeom prst="rect">
            <a:avLst/>
          </a:prstGeom>
          <a:noFill/>
          <a:ln/>
        </p:spPr>
        <p:txBody>
          <a:bodyPr wrap="square" lIns="0" tIns="0" rIns="0" bIns="0" rtlCol="0" anchor="ctr">
            <a:normAutofit/>
          </a:bodyPr>
          <a:lstStyle/>
          <a:p>
            <a:pPr marL="0" indent="0">
              <a:buNone/>
            </a:pPr>
            <a:r>
              <a:rPr lang="en-US" sz="1080" dirty="0">
                <a:solidFill>
                  <a:srgbClr val="1E293B"/>
                </a:solidFill>
              </a:rPr>
              <a:t>setEmpShiftCodes() ghi vào DB.employeeShifts</a:t>
            </a:r>
            <a:endParaRPr lang="en-US" sz="1080" dirty="0"/>
          </a:p>
        </p:txBody>
      </p:sp>
      <p:sp>
        <p:nvSpPr>
          <p:cNvPr id="22" name="Shape 20"/>
          <p:cNvSpPr/>
          <p:nvPr/>
        </p:nvSpPr>
        <p:spPr>
          <a:xfrm>
            <a:off x="8778240" y="2880360"/>
            <a:ext cx="274320" cy="0"/>
          </a:xfrm>
          <a:prstGeom prst="line">
            <a:avLst/>
          </a:prstGeom>
          <a:noFill/>
          <a:ln w="17780">
            <a:solidFill>
              <a:srgbClr val="64748B"/>
            </a:solidFill>
            <a:prstDash val="solid"/>
            <a:headEnd type="none"/>
            <a:tailEnd type="triangle"/>
          </a:ln>
        </p:spPr>
      </p:sp>
      <p:sp>
        <p:nvSpPr>
          <p:cNvPr id="23" name="Shape 21"/>
          <p:cNvSpPr/>
          <p:nvPr/>
        </p:nvSpPr>
        <p:spPr>
          <a:xfrm>
            <a:off x="9144000" y="1828800"/>
            <a:ext cx="2331720" cy="2148840"/>
          </a:xfrm>
          <a:prstGeom prst="roundRect">
            <a:avLst>
              <a:gd name="adj" fmla="val 2979"/>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24" name="Shape 22"/>
          <p:cNvSpPr/>
          <p:nvPr/>
        </p:nvSpPr>
        <p:spPr>
          <a:xfrm>
            <a:off x="9326880" y="2029968"/>
            <a:ext cx="411480" cy="411480"/>
          </a:xfrm>
          <a:prstGeom prst="ellipse">
            <a:avLst/>
          </a:prstGeom>
          <a:solidFill>
            <a:srgbClr val="1A56DB"/>
          </a:solidFill>
          <a:ln w="12700">
            <a:solidFill>
              <a:srgbClr val="333333">
                <a:alpha val="0"/>
              </a:srgbClr>
            </a:solidFill>
            <a:prstDash val="solid"/>
          </a:ln>
        </p:spPr>
      </p:sp>
      <p:sp>
        <p:nvSpPr>
          <p:cNvPr id="25" name="Text 23"/>
          <p:cNvSpPr/>
          <p:nvPr/>
        </p:nvSpPr>
        <p:spPr>
          <a:xfrm>
            <a:off x="9326880" y="2148840"/>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6" name="Text 24"/>
          <p:cNvSpPr/>
          <p:nvPr/>
        </p:nvSpPr>
        <p:spPr>
          <a:xfrm>
            <a:off x="9802368" y="2057400"/>
            <a:ext cx="1325880" cy="365760"/>
          </a:xfrm>
          <a:prstGeom prst="rect">
            <a:avLst/>
          </a:prstGeom>
          <a:noFill/>
          <a:ln/>
        </p:spPr>
        <p:txBody>
          <a:bodyPr wrap="square" lIns="0" tIns="0" rIns="0" bIns="0" rtlCol="0" anchor="ctr">
            <a:normAutofit/>
          </a:bodyPr>
          <a:lstStyle/>
          <a:p>
            <a:pPr marL="0" indent="0">
              <a:buNone/>
            </a:pPr>
            <a:r>
              <a:rPr lang="en-US" sz="1380" b="1" dirty="0">
                <a:solidFill>
                  <a:srgbClr val="0F172A"/>
                </a:solidFill>
              </a:rPr>
              <a:t>Hiển thị chip ca</a:t>
            </a:r>
            <a:endParaRPr lang="en-US" sz="1380" dirty="0"/>
          </a:p>
        </p:txBody>
      </p:sp>
      <p:sp>
        <p:nvSpPr>
          <p:cNvPr id="27" name="Text 25"/>
          <p:cNvSpPr/>
          <p:nvPr/>
        </p:nvSpPr>
        <p:spPr>
          <a:xfrm>
            <a:off x="9400032" y="2743200"/>
            <a:ext cx="1783080" cy="502920"/>
          </a:xfrm>
          <a:prstGeom prst="rect">
            <a:avLst/>
          </a:prstGeom>
          <a:noFill/>
          <a:ln/>
        </p:spPr>
        <p:txBody>
          <a:bodyPr wrap="square" lIns="0" tIns="0" rIns="0" bIns="0" rtlCol="0" anchor="ctr">
            <a:normAutofit/>
          </a:bodyPr>
          <a:lstStyle/>
          <a:p>
            <a:pPr marL="0" indent="0">
              <a:buNone/>
            </a:pPr>
            <a:r>
              <a:rPr lang="en-US" sz="1080" dirty="0">
                <a:solidFill>
                  <a:srgbClr val="1E293B"/>
                </a:solidFill>
              </a:rPr>
              <a:t>Bảng nhân viên và ca làm tự cập nhật</a:t>
            </a:r>
            <a:endParaRPr lang="en-US" sz="1080" dirty="0"/>
          </a:p>
        </p:txBody>
      </p:sp>
      <p:sp>
        <p:nvSpPr>
          <p:cNvPr id="28" name="Shape 26"/>
          <p:cNvSpPr/>
          <p:nvPr/>
        </p:nvSpPr>
        <p:spPr>
          <a:xfrm>
            <a:off x="841248" y="4645152"/>
            <a:ext cx="4800600" cy="1097280"/>
          </a:xfrm>
          <a:prstGeom prst="roundRect">
            <a:avLst>
              <a:gd name="adj" fmla="val 5833"/>
            </a:avLst>
          </a:prstGeom>
          <a:solidFill>
            <a:srgbClr val="EFF6FF"/>
          </a:solidFill>
          <a:ln w="12700">
            <a:solidFill>
              <a:srgbClr val="BFDBFE"/>
            </a:solidFill>
            <a:prstDash val="solid"/>
          </a:ln>
          <a:effectLst>
            <a:outerShdw blurRad="12700" dist="50800" dir="2700000" algn="bl" rotWithShape="0">
              <a:srgbClr val="CBD5E1">
                <a:alpha val="13000"/>
              </a:srgbClr>
            </a:outerShdw>
          </a:effectLst>
        </p:spPr>
      </p:sp>
      <p:sp>
        <p:nvSpPr>
          <p:cNvPr id="29" name="Text 27"/>
          <p:cNvSpPr/>
          <p:nvPr/>
        </p:nvSpPr>
        <p:spPr>
          <a:xfrm>
            <a:off x="1097280" y="4864608"/>
            <a:ext cx="4206240" cy="201168"/>
          </a:xfrm>
          <a:prstGeom prst="rect">
            <a:avLst/>
          </a:prstGeom>
          <a:noFill/>
          <a:ln/>
        </p:spPr>
        <p:txBody>
          <a:bodyPr wrap="square" lIns="0" tIns="0" rIns="0" bIns="0" rtlCol="0" anchor="ctr"/>
          <a:lstStyle/>
          <a:p>
            <a:pPr marL="0" indent="0">
              <a:buNone/>
            </a:pPr>
            <a:r>
              <a:rPr lang="en-US" sz="1400" b="1" dirty="0">
                <a:solidFill>
                  <a:srgbClr val="1A56DB"/>
                </a:solidFill>
              </a:rPr>
              <a:t>Migration dữ liệu cũ</a:t>
            </a:r>
            <a:endParaRPr lang="en-US" sz="1400" dirty="0"/>
          </a:p>
        </p:txBody>
      </p:sp>
      <p:sp>
        <p:nvSpPr>
          <p:cNvPr id="30" name="Text 28"/>
          <p:cNvSpPr/>
          <p:nvPr/>
        </p:nvSpPr>
        <p:spPr>
          <a:xfrm>
            <a:off x="1097280" y="5230368"/>
            <a:ext cx="4160520" cy="219456"/>
          </a:xfrm>
          <a:prstGeom prst="rect">
            <a:avLst/>
          </a:prstGeom>
          <a:noFill/>
          <a:ln/>
        </p:spPr>
        <p:txBody>
          <a:bodyPr wrap="square" lIns="0" tIns="0" rIns="0" bIns="0" rtlCol="0" anchor="ctr">
            <a:normAutofit/>
          </a:bodyPr>
          <a:lstStyle/>
          <a:p>
            <a:pPr marL="0" indent="0">
              <a:buNone/>
            </a:pPr>
            <a:r>
              <a:rPr lang="en-US" sz="960" dirty="0">
                <a:solidFill>
                  <a:srgbClr val="1E293B"/>
                </a:solidFill>
              </a:rPr>
              <a:t>migrateDB() tự chuyển employee.shift và chuẩn hóa attendance cũ thành mảng record.</a:t>
            </a:r>
            <a:endParaRPr lang="en-US" sz="960" dirty="0"/>
          </a:p>
        </p:txBody>
      </p:sp>
      <p:sp>
        <p:nvSpPr>
          <p:cNvPr id="31" name="Shape 29"/>
          <p:cNvSpPr/>
          <p:nvPr/>
        </p:nvSpPr>
        <p:spPr>
          <a:xfrm>
            <a:off x="6172200" y="4645152"/>
            <a:ext cx="4754880" cy="1097280"/>
          </a:xfrm>
          <a:prstGeom prst="roundRect">
            <a:avLst>
              <a:gd name="adj" fmla="val 5833"/>
            </a:avLst>
          </a:prstGeom>
          <a:solidFill>
            <a:srgbClr val="F0FDF4"/>
          </a:solidFill>
          <a:ln w="12700">
            <a:solidFill>
              <a:srgbClr val="BBF7D0"/>
            </a:solidFill>
            <a:prstDash val="solid"/>
          </a:ln>
          <a:effectLst>
            <a:outerShdw blurRad="12700" dist="50800" dir="2700000" algn="bl" rotWithShape="0">
              <a:srgbClr val="CBD5E1">
                <a:alpha val="13000"/>
              </a:srgbClr>
            </a:outerShdw>
          </a:effectLst>
        </p:spPr>
      </p:sp>
      <p:sp>
        <p:nvSpPr>
          <p:cNvPr id="32" name="Text 30"/>
          <p:cNvSpPr/>
          <p:nvPr/>
        </p:nvSpPr>
        <p:spPr>
          <a:xfrm>
            <a:off x="6446520" y="4864608"/>
            <a:ext cx="4114800" cy="201168"/>
          </a:xfrm>
          <a:prstGeom prst="rect">
            <a:avLst/>
          </a:prstGeom>
          <a:noFill/>
          <a:ln/>
        </p:spPr>
        <p:txBody>
          <a:bodyPr wrap="square" lIns="0" tIns="0" rIns="0" bIns="0" rtlCol="0" anchor="ctr"/>
          <a:lstStyle/>
          <a:p>
            <a:pPr marL="0" indent="0">
              <a:buNone/>
            </a:pPr>
            <a:r>
              <a:rPr lang="en-US" sz="1400" b="1" dirty="0">
                <a:solidFill>
                  <a:srgbClr val="0F766E"/>
                </a:solidFill>
              </a:rPr>
              <a:t>Lợi ích</a:t>
            </a:r>
            <a:endParaRPr lang="en-US" sz="1400" dirty="0"/>
          </a:p>
        </p:txBody>
      </p:sp>
      <p:sp>
        <p:nvSpPr>
          <p:cNvPr id="33" name="Text 31"/>
          <p:cNvSpPr/>
          <p:nvPr/>
        </p:nvSpPr>
        <p:spPr>
          <a:xfrm>
            <a:off x="6446520" y="5230368"/>
            <a:ext cx="4069080" cy="219456"/>
          </a:xfrm>
          <a:prstGeom prst="rect">
            <a:avLst/>
          </a:prstGeom>
          <a:noFill/>
          <a:ln/>
        </p:spPr>
        <p:txBody>
          <a:bodyPr wrap="square" lIns="0" tIns="0" rIns="0" bIns="0" rtlCol="0" anchor="ctr">
            <a:normAutofit/>
          </a:bodyPr>
          <a:lstStyle/>
          <a:p>
            <a:pPr marL="0" indent="0">
              <a:buNone/>
            </a:pPr>
            <a:r>
              <a:rPr lang="en-US" sz="980" dirty="0">
                <a:solidFill>
                  <a:srgbClr val="1E293B"/>
                </a:solidFill>
              </a:rPr>
              <a:t>Không mất dữ liệu demo cũ và sẵn sàng mở rộng lịch làm phức tạp hơn.</a:t>
            </a:r>
            <a:endParaRPr lang="en-US" sz="980" dirty="0"/>
          </a:p>
        </p:txBody>
      </p:sp>
      <p:sp>
        <p:nvSpPr>
          <p:cNvPr id="34"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06 · ATTENDANCE</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Chấm công chi tiết theo từng record</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Mỗi ngày một nhân viên có thể có nhiều bản ghi công, tương ứng với nhiều ca được phân.</a:t>
            </a:r>
            <a:endParaRPr lang="en-US" sz="1350" dirty="0"/>
          </a:p>
        </p:txBody>
      </p:sp>
      <p:sp>
        <p:nvSpPr>
          <p:cNvPr id="5" name="Shape 3"/>
          <p:cNvSpPr/>
          <p:nvPr/>
        </p:nvSpPr>
        <p:spPr>
          <a:xfrm>
            <a:off x="731520" y="1627632"/>
            <a:ext cx="5669280" cy="4389120"/>
          </a:xfrm>
          <a:prstGeom prst="roundRect">
            <a:avLst>
              <a:gd name="adj" fmla="val 1458"/>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6" name="Shape 4"/>
          <p:cNvSpPr/>
          <p:nvPr/>
        </p:nvSpPr>
        <p:spPr>
          <a:xfrm>
            <a:off x="960120" y="1938528"/>
            <a:ext cx="749808" cy="347472"/>
          </a:xfrm>
          <a:prstGeom prst="rect">
            <a:avLst/>
          </a:prstGeom>
          <a:solidFill>
            <a:srgbClr val="1A56DB"/>
          </a:solidFill>
          <a:ln w="6350">
            <a:solidFill>
              <a:srgbClr val="E2E8F0"/>
            </a:solidFill>
            <a:prstDash val="solid"/>
          </a:ln>
        </p:spPr>
      </p:sp>
      <p:sp>
        <p:nvSpPr>
          <p:cNvPr id="7" name="Text 5"/>
          <p:cNvSpPr/>
          <p:nvPr/>
        </p:nvSpPr>
        <p:spPr>
          <a:xfrm>
            <a:off x="996696" y="2039112"/>
            <a:ext cx="676656" cy="73152"/>
          </a:xfrm>
          <a:prstGeom prst="rect">
            <a:avLst/>
          </a:prstGeom>
          <a:noFill/>
          <a:ln/>
        </p:spPr>
        <p:txBody>
          <a:bodyPr wrap="square" lIns="0" tIns="0" rIns="0" bIns="0" rtlCol="0" anchor="ctr">
            <a:normAutofit/>
          </a:bodyPr>
          <a:lstStyle/>
          <a:p>
            <a:pPr marL="0" indent="0" algn="l">
              <a:buNone/>
            </a:pPr>
            <a:r>
              <a:rPr lang="en-US" sz="810" b="1" dirty="0">
                <a:solidFill>
                  <a:srgbClr val="FFFFFF"/>
                </a:solidFill>
              </a:rPr>
              <a:t>NV</a:t>
            </a:r>
            <a:endParaRPr lang="en-US" sz="810" dirty="0"/>
          </a:p>
        </p:txBody>
      </p:sp>
      <p:sp>
        <p:nvSpPr>
          <p:cNvPr id="8" name="Shape 6"/>
          <p:cNvSpPr/>
          <p:nvPr/>
        </p:nvSpPr>
        <p:spPr>
          <a:xfrm>
            <a:off x="1709928" y="1938528"/>
            <a:ext cx="1143000" cy="347472"/>
          </a:xfrm>
          <a:prstGeom prst="rect">
            <a:avLst/>
          </a:prstGeom>
          <a:solidFill>
            <a:srgbClr val="1A56DB"/>
          </a:solidFill>
          <a:ln w="6350">
            <a:solidFill>
              <a:srgbClr val="E2E8F0"/>
            </a:solidFill>
            <a:prstDash val="solid"/>
          </a:ln>
        </p:spPr>
      </p:sp>
      <p:sp>
        <p:nvSpPr>
          <p:cNvPr id="9" name="Text 7"/>
          <p:cNvSpPr/>
          <p:nvPr/>
        </p:nvSpPr>
        <p:spPr>
          <a:xfrm>
            <a:off x="1746504" y="2039112"/>
            <a:ext cx="1069848" cy="73152"/>
          </a:xfrm>
          <a:prstGeom prst="rect">
            <a:avLst/>
          </a:prstGeom>
          <a:noFill/>
          <a:ln/>
        </p:spPr>
        <p:txBody>
          <a:bodyPr wrap="square" lIns="0" tIns="0" rIns="0" bIns="0" rtlCol="0" anchor="ctr">
            <a:normAutofit/>
          </a:bodyPr>
          <a:lstStyle/>
          <a:p>
            <a:pPr marL="0" indent="0" algn="l">
              <a:buNone/>
            </a:pPr>
            <a:r>
              <a:rPr lang="en-US" sz="810" b="1" dirty="0">
                <a:solidFill>
                  <a:srgbClr val="FFFFFF"/>
                </a:solidFill>
              </a:rPr>
              <a:t>Ca</a:t>
            </a:r>
            <a:endParaRPr lang="en-US" sz="810" dirty="0"/>
          </a:p>
        </p:txBody>
      </p:sp>
      <p:sp>
        <p:nvSpPr>
          <p:cNvPr id="10" name="Shape 8"/>
          <p:cNvSpPr/>
          <p:nvPr/>
        </p:nvSpPr>
        <p:spPr>
          <a:xfrm>
            <a:off x="2852928" y="1938528"/>
            <a:ext cx="749808" cy="347472"/>
          </a:xfrm>
          <a:prstGeom prst="rect">
            <a:avLst/>
          </a:prstGeom>
          <a:solidFill>
            <a:srgbClr val="1A56DB"/>
          </a:solidFill>
          <a:ln w="6350">
            <a:solidFill>
              <a:srgbClr val="E2E8F0"/>
            </a:solidFill>
            <a:prstDash val="solid"/>
          </a:ln>
        </p:spPr>
      </p:sp>
      <p:sp>
        <p:nvSpPr>
          <p:cNvPr id="11" name="Text 9"/>
          <p:cNvSpPr/>
          <p:nvPr/>
        </p:nvSpPr>
        <p:spPr>
          <a:xfrm>
            <a:off x="2889504" y="2039112"/>
            <a:ext cx="676656" cy="73152"/>
          </a:xfrm>
          <a:prstGeom prst="rect">
            <a:avLst/>
          </a:prstGeom>
          <a:noFill/>
          <a:ln/>
        </p:spPr>
        <p:txBody>
          <a:bodyPr wrap="square" lIns="0" tIns="0" rIns="0" bIns="0" rtlCol="0" anchor="ctr">
            <a:normAutofit/>
          </a:bodyPr>
          <a:lstStyle/>
          <a:p>
            <a:pPr marL="0" indent="0" algn="l">
              <a:buNone/>
            </a:pPr>
            <a:r>
              <a:rPr lang="en-US" sz="810" b="1" dirty="0">
                <a:solidFill>
                  <a:srgbClr val="FFFFFF"/>
                </a:solidFill>
              </a:rPr>
              <a:t>Vào</a:t>
            </a:r>
            <a:endParaRPr lang="en-US" sz="810" dirty="0"/>
          </a:p>
        </p:txBody>
      </p:sp>
      <p:sp>
        <p:nvSpPr>
          <p:cNvPr id="12" name="Shape 10"/>
          <p:cNvSpPr/>
          <p:nvPr/>
        </p:nvSpPr>
        <p:spPr>
          <a:xfrm>
            <a:off x="3602736" y="1938528"/>
            <a:ext cx="749808" cy="347472"/>
          </a:xfrm>
          <a:prstGeom prst="rect">
            <a:avLst/>
          </a:prstGeom>
          <a:solidFill>
            <a:srgbClr val="1A56DB"/>
          </a:solidFill>
          <a:ln w="6350">
            <a:solidFill>
              <a:srgbClr val="E2E8F0"/>
            </a:solidFill>
            <a:prstDash val="solid"/>
          </a:ln>
        </p:spPr>
      </p:sp>
      <p:sp>
        <p:nvSpPr>
          <p:cNvPr id="13" name="Text 11"/>
          <p:cNvSpPr/>
          <p:nvPr/>
        </p:nvSpPr>
        <p:spPr>
          <a:xfrm>
            <a:off x="3639312" y="2039112"/>
            <a:ext cx="676656" cy="73152"/>
          </a:xfrm>
          <a:prstGeom prst="rect">
            <a:avLst/>
          </a:prstGeom>
          <a:noFill/>
          <a:ln/>
        </p:spPr>
        <p:txBody>
          <a:bodyPr wrap="square" lIns="0" tIns="0" rIns="0" bIns="0" rtlCol="0" anchor="ctr">
            <a:normAutofit/>
          </a:bodyPr>
          <a:lstStyle/>
          <a:p>
            <a:pPr marL="0" indent="0" algn="l">
              <a:buNone/>
            </a:pPr>
            <a:r>
              <a:rPr lang="en-US" sz="810" b="1" dirty="0">
                <a:solidFill>
                  <a:srgbClr val="FFFFFF"/>
                </a:solidFill>
              </a:rPr>
              <a:t>Ra</a:t>
            </a:r>
            <a:endParaRPr lang="en-US" sz="810" dirty="0"/>
          </a:p>
        </p:txBody>
      </p:sp>
      <p:sp>
        <p:nvSpPr>
          <p:cNvPr id="14" name="Shape 12"/>
          <p:cNvSpPr/>
          <p:nvPr/>
        </p:nvSpPr>
        <p:spPr>
          <a:xfrm>
            <a:off x="4352544" y="1938528"/>
            <a:ext cx="1325880" cy="347472"/>
          </a:xfrm>
          <a:prstGeom prst="rect">
            <a:avLst/>
          </a:prstGeom>
          <a:solidFill>
            <a:srgbClr val="1A56DB"/>
          </a:solidFill>
          <a:ln w="6350">
            <a:solidFill>
              <a:srgbClr val="E2E8F0"/>
            </a:solidFill>
            <a:prstDash val="solid"/>
          </a:ln>
        </p:spPr>
      </p:sp>
      <p:sp>
        <p:nvSpPr>
          <p:cNvPr id="15" name="Text 13"/>
          <p:cNvSpPr/>
          <p:nvPr/>
        </p:nvSpPr>
        <p:spPr>
          <a:xfrm>
            <a:off x="4389120" y="2039112"/>
            <a:ext cx="1252728" cy="73152"/>
          </a:xfrm>
          <a:prstGeom prst="rect">
            <a:avLst/>
          </a:prstGeom>
          <a:noFill/>
          <a:ln/>
        </p:spPr>
        <p:txBody>
          <a:bodyPr wrap="square" lIns="0" tIns="0" rIns="0" bIns="0" rtlCol="0" anchor="ctr">
            <a:normAutofit/>
          </a:bodyPr>
          <a:lstStyle/>
          <a:p>
            <a:pPr marL="0" indent="0" algn="ctr">
              <a:buNone/>
            </a:pPr>
            <a:r>
              <a:rPr lang="en-US" sz="810" b="1" dirty="0">
                <a:solidFill>
                  <a:srgbClr val="FFFFFF"/>
                </a:solidFill>
              </a:rPr>
              <a:t>Trạng thái</a:t>
            </a:r>
            <a:endParaRPr lang="en-US" sz="810" dirty="0"/>
          </a:p>
        </p:txBody>
      </p:sp>
      <p:sp>
        <p:nvSpPr>
          <p:cNvPr id="16" name="Shape 14"/>
          <p:cNvSpPr/>
          <p:nvPr/>
        </p:nvSpPr>
        <p:spPr>
          <a:xfrm>
            <a:off x="960120" y="2286000"/>
            <a:ext cx="749808" cy="347472"/>
          </a:xfrm>
          <a:prstGeom prst="rect">
            <a:avLst/>
          </a:prstGeom>
          <a:solidFill>
            <a:srgbClr val="FFFFFF"/>
          </a:solidFill>
          <a:ln w="6350">
            <a:solidFill>
              <a:srgbClr val="E2E8F0"/>
            </a:solidFill>
            <a:prstDash val="solid"/>
          </a:ln>
        </p:spPr>
      </p:sp>
      <p:sp>
        <p:nvSpPr>
          <p:cNvPr id="17" name="Text 15"/>
          <p:cNvSpPr/>
          <p:nvPr/>
        </p:nvSpPr>
        <p:spPr>
          <a:xfrm>
            <a:off x="996696" y="2386584"/>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NV010</a:t>
            </a:r>
            <a:endParaRPr lang="en-US" sz="810" dirty="0"/>
          </a:p>
        </p:txBody>
      </p:sp>
      <p:sp>
        <p:nvSpPr>
          <p:cNvPr id="18" name="Shape 16"/>
          <p:cNvSpPr/>
          <p:nvPr/>
        </p:nvSpPr>
        <p:spPr>
          <a:xfrm>
            <a:off x="1709928" y="2286000"/>
            <a:ext cx="1143000" cy="347472"/>
          </a:xfrm>
          <a:prstGeom prst="rect">
            <a:avLst/>
          </a:prstGeom>
          <a:solidFill>
            <a:srgbClr val="FFFFFF"/>
          </a:solidFill>
          <a:ln w="6350">
            <a:solidFill>
              <a:srgbClr val="E2E8F0"/>
            </a:solidFill>
            <a:prstDash val="solid"/>
          </a:ln>
        </p:spPr>
      </p:sp>
      <p:sp>
        <p:nvSpPr>
          <p:cNvPr id="19" name="Text 17"/>
          <p:cNvSpPr/>
          <p:nvPr/>
        </p:nvSpPr>
        <p:spPr>
          <a:xfrm>
            <a:off x="1746504" y="2386584"/>
            <a:ext cx="1069848"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Ca Chiều</a:t>
            </a:r>
            <a:endParaRPr lang="en-US" sz="810" dirty="0"/>
          </a:p>
        </p:txBody>
      </p:sp>
      <p:sp>
        <p:nvSpPr>
          <p:cNvPr id="20" name="Shape 18"/>
          <p:cNvSpPr/>
          <p:nvPr/>
        </p:nvSpPr>
        <p:spPr>
          <a:xfrm>
            <a:off x="2852928" y="2286000"/>
            <a:ext cx="749808" cy="347472"/>
          </a:xfrm>
          <a:prstGeom prst="rect">
            <a:avLst/>
          </a:prstGeom>
          <a:solidFill>
            <a:srgbClr val="FFFFFF"/>
          </a:solidFill>
          <a:ln w="6350">
            <a:solidFill>
              <a:srgbClr val="E2E8F0"/>
            </a:solidFill>
            <a:prstDash val="solid"/>
          </a:ln>
        </p:spPr>
      </p:sp>
      <p:sp>
        <p:nvSpPr>
          <p:cNvPr id="21" name="Text 19"/>
          <p:cNvSpPr/>
          <p:nvPr/>
        </p:nvSpPr>
        <p:spPr>
          <a:xfrm>
            <a:off x="2889504" y="2386584"/>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14:25</a:t>
            </a:r>
            <a:endParaRPr lang="en-US" sz="810" dirty="0"/>
          </a:p>
        </p:txBody>
      </p:sp>
      <p:sp>
        <p:nvSpPr>
          <p:cNvPr id="22" name="Shape 20"/>
          <p:cNvSpPr/>
          <p:nvPr/>
        </p:nvSpPr>
        <p:spPr>
          <a:xfrm>
            <a:off x="3602736" y="2286000"/>
            <a:ext cx="749808" cy="347472"/>
          </a:xfrm>
          <a:prstGeom prst="rect">
            <a:avLst/>
          </a:prstGeom>
          <a:solidFill>
            <a:srgbClr val="FFFFFF"/>
          </a:solidFill>
          <a:ln w="6350">
            <a:solidFill>
              <a:srgbClr val="E2E8F0"/>
            </a:solidFill>
            <a:prstDash val="solid"/>
          </a:ln>
        </p:spPr>
      </p:sp>
      <p:sp>
        <p:nvSpPr>
          <p:cNvPr id="23" name="Text 21"/>
          <p:cNvSpPr/>
          <p:nvPr/>
        </p:nvSpPr>
        <p:spPr>
          <a:xfrm>
            <a:off x="3639312" y="2386584"/>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22:00</a:t>
            </a:r>
            <a:endParaRPr lang="en-US" sz="810" dirty="0"/>
          </a:p>
        </p:txBody>
      </p:sp>
      <p:sp>
        <p:nvSpPr>
          <p:cNvPr id="24" name="Shape 22"/>
          <p:cNvSpPr/>
          <p:nvPr/>
        </p:nvSpPr>
        <p:spPr>
          <a:xfrm>
            <a:off x="4352544" y="2286000"/>
            <a:ext cx="1325880" cy="347472"/>
          </a:xfrm>
          <a:prstGeom prst="rect">
            <a:avLst/>
          </a:prstGeom>
          <a:solidFill>
            <a:srgbClr val="FFFFFF"/>
          </a:solidFill>
          <a:ln w="6350">
            <a:solidFill>
              <a:srgbClr val="E2E8F0"/>
            </a:solidFill>
            <a:prstDash val="solid"/>
          </a:ln>
        </p:spPr>
      </p:sp>
      <p:sp>
        <p:nvSpPr>
          <p:cNvPr id="25" name="Text 23"/>
          <p:cNvSpPr/>
          <p:nvPr/>
        </p:nvSpPr>
        <p:spPr>
          <a:xfrm>
            <a:off x="4389120" y="2386584"/>
            <a:ext cx="1252728" cy="73152"/>
          </a:xfrm>
          <a:prstGeom prst="rect">
            <a:avLst/>
          </a:prstGeom>
          <a:noFill/>
          <a:ln/>
        </p:spPr>
        <p:txBody>
          <a:bodyPr wrap="square" lIns="0" tIns="0" rIns="0" bIns="0" rtlCol="0" anchor="ctr">
            <a:normAutofit/>
          </a:bodyPr>
          <a:lstStyle/>
          <a:p>
            <a:pPr marL="0" indent="0" algn="ctr">
              <a:buNone/>
            </a:pPr>
            <a:r>
              <a:rPr lang="en-US" sz="810" dirty="0">
                <a:solidFill>
                  <a:srgbClr val="1E293B"/>
                </a:solidFill>
              </a:rPr>
              <a:t>Muộn 15p</a:t>
            </a:r>
            <a:endParaRPr lang="en-US" sz="810" dirty="0"/>
          </a:p>
        </p:txBody>
      </p:sp>
      <p:sp>
        <p:nvSpPr>
          <p:cNvPr id="26" name="Shape 24"/>
          <p:cNvSpPr/>
          <p:nvPr/>
        </p:nvSpPr>
        <p:spPr>
          <a:xfrm>
            <a:off x="960120" y="2633472"/>
            <a:ext cx="749808" cy="347472"/>
          </a:xfrm>
          <a:prstGeom prst="rect">
            <a:avLst/>
          </a:prstGeom>
          <a:solidFill>
            <a:srgbClr val="FFFFFF"/>
          </a:solidFill>
          <a:ln w="6350">
            <a:solidFill>
              <a:srgbClr val="E2E8F0"/>
            </a:solidFill>
            <a:prstDash val="solid"/>
          </a:ln>
        </p:spPr>
      </p:sp>
      <p:sp>
        <p:nvSpPr>
          <p:cNvPr id="27" name="Text 25"/>
          <p:cNvSpPr/>
          <p:nvPr/>
        </p:nvSpPr>
        <p:spPr>
          <a:xfrm>
            <a:off x="996696" y="2734056"/>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NV010</a:t>
            </a:r>
            <a:endParaRPr lang="en-US" sz="810" dirty="0"/>
          </a:p>
        </p:txBody>
      </p:sp>
      <p:sp>
        <p:nvSpPr>
          <p:cNvPr id="28" name="Shape 26"/>
          <p:cNvSpPr/>
          <p:nvPr/>
        </p:nvSpPr>
        <p:spPr>
          <a:xfrm>
            <a:off x="1709928" y="2633472"/>
            <a:ext cx="1143000" cy="347472"/>
          </a:xfrm>
          <a:prstGeom prst="rect">
            <a:avLst/>
          </a:prstGeom>
          <a:solidFill>
            <a:srgbClr val="FFFFFF"/>
          </a:solidFill>
          <a:ln w="6350">
            <a:solidFill>
              <a:srgbClr val="E2E8F0"/>
            </a:solidFill>
            <a:prstDash val="solid"/>
          </a:ln>
        </p:spPr>
      </p:sp>
      <p:sp>
        <p:nvSpPr>
          <p:cNvPr id="29" name="Text 27"/>
          <p:cNvSpPr/>
          <p:nvPr/>
        </p:nvSpPr>
        <p:spPr>
          <a:xfrm>
            <a:off x="1746504" y="2734056"/>
            <a:ext cx="1069848"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Ca Tối</a:t>
            </a:r>
            <a:endParaRPr lang="en-US" sz="810" dirty="0"/>
          </a:p>
        </p:txBody>
      </p:sp>
      <p:sp>
        <p:nvSpPr>
          <p:cNvPr id="30" name="Shape 28"/>
          <p:cNvSpPr/>
          <p:nvPr/>
        </p:nvSpPr>
        <p:spPr>
          <a:xfrm>
            <a:off x="2852928" y="2633472"/>
            <a:ext cx="749808" cy="347472"/>
          </a:xfrm>
          <a:prstGeom prst="rect">
            <a:avLst/>
          </a:prstGeom>
          <a:solidFill>
            <a:srgbClr val="FFFFFF"/>
          </a:solidFill>
          <a:ln w="6350">
            <a:solidFill>
              <a:srgbClr val="E2E8F0"/>
            </a:solidFill>
            <a:prstDash val="solid"/>
          </a:ln>
        </p:spPr>
      </p:sp>
      <p:sp>
        <p:nvSpPr>
          <p:cNvPr id="31" name="Text 29"/>
          <p:cNvSpPr/>
          <p:nvPr/>
        </p:nvSpPr>
        <p:spPr>
          <a:xfrm>
            <a:off x="2889504" y="2734056"/>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18:00</a:t>
            </a:r>
            <a:endParaRPr lang="en-US" sz="810" dirty="0"/>
          </a:p>
        </p:txBody>
      </p:sp>
      <p:sp>
        <p:nvSpPr>
          <p:cNvPr id="32" name="Shape 30"/>
          <p:cNvSpPr/>
          <p:nvPr/>
        </p:nvSpPr>
        <p:spPr>
          <a:xfrm>
            <a:off x="3602736" y="2633472"/>
            <a:ext cx="749808" cy="347472"/>
          </a:xfrm>
          <a:prstGeom prst="rect">
            <a:avLst/>
          </a:prstGeom>
          <a:solidFill>
            <a:srgbClr val="FFFFFF"/>
          </a:solidFill>
          <a:ln w="6350">
            <a:solidFill>
              <a:srgbClr val="E2E8F0"/>
            </a:solidFill>
            <a:prstDash val="solid"/>
          </a:ln>
        </p:spPr>
      </p:sp>
      <p:sp>
        <p:nvSpPr>
          <p:cNvPr id="33" name="Text 31"/>
          <p:cNvSpPr/>
          <p:nvPr/>
        </p:nvSpPr>
        <p:spPr>
          <a:xfrm>
            <a:off x="3639312" y="2734056"/>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22:00</a:t>
            </a:r>
            <a:endParaRPr lang="en-US" sz="810" dirty="0"/>
          </a:p>
        </p:txBody>
      </p:sp>
      <p:sp>
        <p:nvSpPr>
          <p:cNvPr id="34" name="Shape 32"/>
          <p:cNvSpPr/>
          <p:nvPr/>
        </p:nvSpPr>
        <p:spPr>
          <a:xfrm>
            <a:off x="4352544" y="2633472"/>
            <a:ext cx="1325880" cy="347472"/>
          </a:xfrm>
          <a:prstGeom prst="rect">
            <a:avLst/>
          </a:prstGeom>
          <a:solidFill>
            <a:srgbClr val="FFFFFF"/>
          </a:solidFill>
          <a:ln w="6350">
            <a:solidFill>
              <a:srgbClr val="E2E8F0"/>
            </a:solidFill>
            <a:prstDash val="solid"/>
          </a:ln>
        </p:spPr>
      </p:sp>
      <p:sp>
        <p:nvSpPr>
          <p:cNvPr id="35" name="Text 33"/>
          <p:cNvSpPr/>
          <p:nvPr/>
        </p:nvSpPr>
        <p:spPr>
          <a:xfrm>
            <a:off x="4389120" y="2734056"/>
            <a:ext cx="1252728" cy="73152"/>
          </a:xfrm>
          <a:prstGeom prst="rect">
            <a:avLst/>
          </a:prstGeom>
          <a:noFill/>
          <a:ln/>
        </p:spPr>
        <p:txBody>
          <a:bodyPr wrap="square" lIns="0" tIns="0" rIns="0" bIns="0" rtlCol="0" anchor="ctr">
            <a:normAutofit/>
          </a:bodyPr>
          <a:lstStyle/>
          <a:p>
            <a:pPr marL="0" indent="0" algn="ctr">
              <a:buNone/>
            </a:pPr>
            <a:r>
              <a:rPr lang="en-US" sz="810" dirty="0">
                <a:solidFill>
                  <a:srgbClr val="1E293B"/>
                </a:solidFill>
              </a:rPr>
              <a:t>Đúng ca</a:t>
            </a:r>
            <a:endParaRPr lang="en-US" sz="810" dirty="0"/>
          </a:p>
        </p:txBody>
      </p:sp>
      <p:sp>
        <p:nvSpPr>
          <p:cNvPr id="36" name="Shape 34"/>
          <p:cNvSpPr/>
          <p:nvPr/>
        </p:nvSpPr>
        <p:spPr>
          <a:xfrm>
            <a:off x="960120" y="2980944"/>
            <a:ext cx="749808" cy="347472"/>
          </a:xfrm>
          <a:prstGeom prst="rect">
            <a:avLst/>
          </a:prstGeom>
          <a:solidFill>
            <a:srgbClr val="FFFFFF"/>
          </a:solidFill>
          <a:ln w="6350">
            <a:solidFill>
              <a:srgbClr val="E2E8F0"/>
            </a:solidFill>
            <a:prstDash val="solid"/>
          </a:ln>
        </p:spPr>
      </p:sp>
      <p:sp>
        <p:nvSpPr>
          <p:cNvPr id="37" name="Text 35"/>
          <p:cNvSpPr/>
          <p:nvPr/>
        </p:nvSpPr>
        <p:spPr>
          <a:xfrm>
            <a:off x="996696" y="3081528"/>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NV017</a:t>
            </a:r>
            <a:endParaRPr lang="en-US" sz="810" dirty="0"/>
          </a:p>
        </p:txBody>
      </p:sp>
      <p:sp>
        <p:nvSpPr>
          <p:cNvPr id="38" name="Shape 36"/>
          <p:cNvSpPr/>
          <p:nvPr/>
        </p:nvSpPr>
        <p:spPr>
          <a:xfrm>
            <a:off x="1709928" y="2980944"/>
            <a:ext cx="1143000" cy="347472"/>
          </a:xfrm>
          <a:prstGeom prst="rect">
            <a:avLst/>
          </a:prstGeom>
          <a:solidFill>
            <a:srgbClr val="FFFFFF"/>
          </a:solidFill>
          <a:ln w="6350">
            <a:solidFill>
              <a:srgbClr val="E2E8F0"/>
            </a:solidFill>
            <a:prstDash val="solid"/>
          </a:ln>
        </p:spPr>
      </p:sp>
      <p:sp>
        <p:nvSpPr>
          <p:cNvPr id="39" name="Text 37"/>
          <p:cNvSpPr/>
          <p:nvPr/>
        </p:nvSpPr>
        <p:spPr>
          <a:xfrm>
            <a:off x="1746504" y="3081528"/>
            <a:ext cx="1069848"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Ca Đêm</a:t>
            </a:r>
            <a:endParaRPr lang="en-US" sz="810" dirty="0"/>
          </a:p>
        </p:txBody>
      </p:sp>
      <p:sp>
        <p:nvSpPr>
          <p:cNvPr id="40" name="Shape 38"/>
          <p:cNvSpPr/>
          <p:nvPr/>
        </p:nvSpPr>
        <p:spPr>
          <a:xfrm>
            <a:off x="2852928" y="2980944"/>
            <a:ext cx="749808" cy="347472"/>
          </a:xfrm>
          <a:prstGeom prst="rect">
            <a:avLst/>
          </a:prstGeom>
          <a:solidFill>
            <a:srgbClr val="FFFFFF"/>
          </a:solidFill>
          <a:ln w="6350">
            <a:solidFill>
              <a:srgbClr val="E2E8F0"/>
            </a:solidFill>
            <a:prstDash val="solid"/>
          </a:ln>
        </p:spPr>
      </p:sp>
      <p:sp>
        <p:nvSpPr>
          <p:cNvPr id="41" name="Text 39"/>
          <p:cNvSpPr/>
          <p:nvPr/>
        </p:nvSpPr>
        <p:spPr>
          <a:xfrm>
            <a:off x="2889504" y="3081528"/>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22:10</a:t>
            </a:r>
            <a:endParaRPr lang="en-US" sz="810" dirty="0"/>
          </a:p>
        </p:txBody>
      </p:sp>
      <p:sp>
        <p:nvSpPr>
          <p:cNvPr id="42" name="Shape 40"/>
          <p:cNvSpPr/>
          <p:nvPr/>
        </p:nvSpPr>
        <p:spPr>
          <a:xfrm>
            <a:off x="3602736" y="2980944"/>
            <a:ext cx="749808" cy="347472"/>
          </a:xfrm>
          <a:prstGeom prst="rect">
            <a:avLst/>
          </a:prstGeom>
          <a:solidFill>
            <a:srgbClr val="FFFFFF"/>
          </a:solidFill>
          <a:ln w="6350">
            <a:solidFill>
              <a:srgbClr val="E2E8F0"/>
            </a:solidFill>
            <a:prstDash val="solid"/>
          </a:ln>
        </p:spPr>
      </p:sp>
      <p:sp>
        <p:nvSpPr>
          <p:cNvPr id="43" name="Text 41"/>
          <p:cNvSpPr/>
          <p:nvPr/>
        </p:nvSpPr>
        <p:spPr>
          <a:xfrm>
            <a:off x="3639312" y="3081528"/>
            <a:ext cx="676656" cy="73152"/>
          </a:xfrm>
          <a:prstGeom prst="rect">
            <a:avLst/>
          </a:prstGeom>
          <a:noFill/>
          <a:ln/>
        </p:spPr>
        <p:txBody>
          <a:bodyPr wrap="square" lIns="0" tIns="0" rIns="0" bIns="0" rtlCol="0" anchor="ctr">
            <a:normAutofit/>
          </a:bodyPr>
          <a:lstStyle/>
          <a:p>
            <a:pPr marL="0" indent="0" algn="l">
              <a:buNone/>
            </a:pPr>
            <a:r>
              <a:rPr lang="en-US" sz="810" dirty="0">
                <a:solidFill>
                  <a:srgbClr val="1E293B"/>
                </a:solidFill>
              </a:rPr>
              <a:t>06:00</a:t>
            </a:r>
            <a:endParaRPr lang="en-US" sz="810" dirty="0"/>
          </a:p>
        </p:txBody>
      </p:sp>
      <p:sp>
        <p:nvSpPr>
          <p:cNvPr id="44" name="Shape 42"/>
          <p:cNvSpPr/>
          <p:nvPr/>
        </p:nvSpPr>
        <p:spPr>
          <a:xfrm>
            <a:off x="4352544" y="2980944"/>
            <a:ext cx="1325880" cy="347472"/>
          </a:xfrm>
          <a:prstGeom prst="rect">
            <a:avLst/>
          </a:prstGeom>
          <a:solidFill>
            <a:srgbClr val="FFFFFF"/>
          </a:solidFill>
          <a:ln w="6350">
            <a:solidFill>
              <a:srgbClr val="E2E8F0"/>
            </a:solidFill>
            <a:prstDash val="solid"/>
          </a:ln>
        </p:spPr>
      </p:sp>
      <p:sp>
        <p:nvSpPr>
          <p:cNvPr id="45" name="Text 43"/>
          <p:cNvSpPr/>
          <p:nvPr/>
        </p:nvSpPr>
        <p:spPr>
          <a:xfrm>
            <a:off x="4389120" y="3081528"/>
            <a:ext cx="1252728" cy="73152"/>
          </a:xfrm>
          <a:prstGeom prst="rect">
            <a:avLst/>
          </a:prstGeom>
          <a:noFill/>
          <a:ln/>
        </p:spPr>
        <p:txBody>
          <a:bodyPr wrap="square" lIns="0" tIns="0" rIns="0" bIns="0" rtlCol="0" anchor="ctr">
            <a:normAutofit/>
          </a:bodyPr>
          <a:lstStyle/>
          <a:p>
            <a:pPr marL="0" indent="0" algn="ctr">
              <a:buNone/>
            </a:pPr>
            <a:r>
              <a:rPr lang="en-US" sz="810" dirty="0">
                <a:solidFill>
                  <a:srgbClr val="1E293B"/>
                </a:solidFill>
              </a:rPr>
              <a:t>Đúng ca</a:t>
            </a:r>
            <a:endParaRPr lang="en-US" sz="810" dirty="0"/>
          </a:p>
        </p:txBody>
      </p:sp>
      <p:sp>
        <p:nvSpPr>
          <p:cNvPr id="46" name="Text 44"/>
          <p:cNvSpPr/>
          <p:nvPr/>
        </p:nvSpPr>
        <p:spPr>
          <a:xfrm>
            <a:off x="960120" y="3794760"/>
            <a:ext cx="3291840" cy="219456"/>
          </a:xfrm>
          <a:prstGeom prst="rect">
            <a:avLst/>
          </a:prstGeom>
          <a:noFill/>
          <a:ln/>
        </p:spPr>
        <p:txBody>
          <a:bodyPr wrap="square" lIns="0" tIns="0" rIns="0" bIns="0" rtlCol="0" anchor="ctr"/>
          <a:lstStyle/>
          <a:p>
            <a:pPr marL="0" indent="0">
              <a:buNone/>
            </a:pPr>
            <a:r>
              <a:rPr lang="en-US" sz="1500" b="1" dirty="0">
                <a:solidFill>
                  <a:srgbClr val="0F172A"/>
                </a:solidFill>
              </a:rPr>
              <a:t>Nút “Chi tiết” mở modal đối chiếu</a:t>
            </a:r>
            <a:endParaRPr lang="en-US" sz="1500" dirty="0"/>
          </a:p>
        </p:txBody>
      </p:sp>
      <p:sp>
        <p:nvSpPr>
          <p:cNvPr id="47" name="Shape 45"/>
          <p:cNvSpPr/>
          <p:nvPr/>
        </p:nvSpPr>
        <p:spPr>
          <a:xfrm>
            <a:off x="987552" y="4224528"/>
            <a:ext cx="1325880" cy="384048"/>
          </a:xfrm>
          <a:prstGeom prst="roundRect">
            <a:avLst>
              <a:gd name="adj" fmla="val 9524"/>
            </a:avLst>
          </a:prstGeom>
          <a:solidFill>
            <a:srgbClr val="EFF6FF"/>
          </a:solidFill>
          <a:ln w="12700">
            <a:solidFill>
              <a:srgbClr val="BFDBFE"/>
            </a:solidFill>
            <a:prstDash val="solid"/>
          </a:ln>
        </p:spPr>
      </p:sp>
      <p:sp>
        <p:nvSpPr>
          <p:cNvPr id="48" name="Text 46"/>
          <p:cNvSpPr/>
          <p:nvPr/>
        </p:nvSpPr>
        <p:spPr>
          <a:xfrm>
            <a:off x="1060704" y="4297680"/>
            <a:ext cx="621792" cy="91440"/>
          </a:xfrm>
          <a:prstGeom prst="rect">
            <a:avLst/>
          </a:prstGeom>
          <a:noFill/>
          <a:ln/>
        </p:spPr>
        <p:txBody>
          <a:bodyPr wrap="square" lIns="0" tIns="0" rIns="0" bIns="0" rtlCol="0" anchor="ctr">
            <a:normAutofit/>
          </a:bodyPr>
          <a:lstStyle/>
          <a:p>
            <a:pPr marL="0" indent="0">
              <a:buNone/>
            </a:pPr>
            <a:r>
              <a:rPr lang="en-US" sz="680" dirty="0">
                <a:solidFill>
                  <a:srgbClr val="64748B"/>
                </a:solidFill>
              </a:rPr>
              <a:t>Ca áp dụng</a:t>
            </a:r>
            <a:endParaRPr lang="en-US" sz="680" dirty="0"/>
          </a:p>
        </p:txBody>
      </p:sp>
      <p:sp>
        <p:nvSpPr>
          <p:cNvPr id="49" name="Text 47"/>
          <p:cNvSpPr/>
          <p:nvPr/>
        </p:nvSpPr>
        <p:spPr>
          <a:xfrm>
            <a:off x="1060704" y="4434840"/>
            <a:ext cx="1005840" cy="91440"/>
          </a:xfrm>
          <a:prstGeom prst="rect">
            <a:avLst/>
          </a:prstGeom>
          <a:noFill/>
          <a:ln/>
        </p:spPr>
        <p:txBody>
          <a:bodyPr wrap="square" lIns="0" tIns="0" rIns="0" bIns="0" rtlCol="0" anchor="ctr">
            <a:normAutofit/>
          </a:bodyPr>
          <a:lstStyle/>
          <a:p>
            <a:pPr marL="0" indent="0">
              <a:buNone/>
            </a:pPr>
            <a:r>
              <a:rPr lang="en-US" sz="820" b="1" dirty="0">
                <a:solidFill>
                  <a:srgbClr val="1E293B"/>
                </a:solidFill>
              </a:rPr>
              <a:t>Ca Chiều</a:t>
            </a:r>
            <a:endParaRPr lang="en-US" sz="820" dirty="0"/>
          </a:p>
        </p:txBody>
      </p:sp>
      <p:sp>
        <p:nvSpPr>
          <p:cNvPr id="50" name="Shape 48"/>
          <p:cNvSpPr/>
          <p:nvPr/>
        </p:nvSpPr>
        <p:spPr>
          <a:xfrm>
            <a:off x="2615184" y="4224528"/>
            <a:ext cx="1325880" cy="384048"/>
          </a:xfrm>
          <a:prstGeom prst="roundRect">
            <a:avLst>
              <a:gd name="adj" fmla="val 9524"/>
            </a:avLst>
          </a:prstGeom>
          <a:solidFill>
            <a:srgbClr val="EFF6FF"/>
          </a:solidFill>
          <a:ln w="12700">
            <a:solidFill>
              <a:srgbClr val="BFDBFE"/>
            </a:solidFill>
            <a:prstDash val="solid"/>
          </a:ln>
        </p:spPr>
      </p:sp>
      <p:sp>
        <p:nvSpPr>
          <p:cNvPr id="51" name="Text 49"/>
          <p:cNvSpPr/>
          <p:nvPr/>
        </p:nvSpPr>
        <p:spPr>
          <a:xfrm>
            <a:off x="2688336" y="4297680"/>
            <a:ext cx="621792" cy="91440"/>
          </a:xfrm>
          <a:prstGeom prst="rect">
            <a:avLst/>
          </a:prstGeom>
          <a:noFill/>
          <a:ln/>
        </p:spPr>
        <p:txBody>
          <a:bodyPr wrap="square" lIns="0" tIns="0" rIns="0" bIns="0" rtlCol="0" anchor="ctr">
            <a:normAutofit/>
          </a:bodyPr>
          <a:lstStyle/>
          <a:p>
            <a:pPr marL="0" indent="0">
              <a:buNone/>
            </a:pPr>
            <a:r>
              <a:rPr lang="en-US" sz="680" dirty="0">
                <a:solidFill>
                  <a:srgbClr val="64748B"/>
                </a:solidFill>
              </a:rPr>
              <a:t>Giờ ca</a:t>
            </a:r>
            <a:endParaRPr lang="en-US" sz="680" dirty="0"/>
          </a:p>
        </p:txBody>
      </p:sp>
      <p:sp>
        <p:nvSpPr>
          <p:cNvPr id="52" name="Text 50"/>
          <p:cNvSpPr/>
          <p:nvPr/>
        </p:nvSpPr>
        <p:spPr>
          <a:xfrm>
            <a:off x="2688336" y="4434840"/>
            <a:ext cx="1005840" cy="91440"/>
          </a:xfrm>
          <a:prstGeom prst="rect">
            <a:avLst/>
          </a:prstGeom>
          <a:noFill/>
          <a:ln/>
        </p:spPr>
        <p:txBody>
          <a:bodyPr wrap="square" lIns="0" tIns="0" rIns="0" bIns="0" rtlCol="0" anchor="ctr">
            <a:normAutofit/>
          </a:bodyPr>
          <a:lstStyle/>
          <a:p>
            <a:pPr marL="0" indent="0">
              <a:buNone/>
            </a:pPr>
            <a:r>
              <a:rPr lang="en-US" sz="820" b="1" dirty="0">
                <a:solidFill>
                  <a:srgbClr val="1E293B"/>
                </a:solidFill>
              </a:rPr>
              <a:t>14:00–22:00</a:t>
            </a:r>
            <a:endParaRPr lang="en-US" sz="820" dirty="0"/>
          </a:p>
        </p:txBody>
      </p:sp>
      <p:sp>
        <p:nvSpPr>
          <p:cNvPr id="53" name="Shape 51"/>
          <p:cNvSpPr/>
          <p:nvPr/>
        </p:nvSpPr>
        <p:spPr>
          <a:xfrm>
            <a:off x="4242816" y="4224528"/>
            <a:ext cx="1325880" cy="384048"/>
          </a:xfrm>
          <a:prstGeom prst="roundRect">
            <a:avLst>
              <a:gd name="adj" fmla="val 9524"/>
            </a:avLst>
          </a:prstGeom>
          <a:solidFill>
            <a:srgbClr val="EFF6FF"/>
          </a:solidFill>
          <a:ln w="12700">
            <a:solidFill>
              <a:srgbClr val="BFDBFE"/>
            </a:solidFill>
            <a:prstDash val="solid"/>
          </a:ln>
        </p:spPr>
      </p:sp>
      <p:sp>
        <p:nvSpPr>
          <p:cNvPr id="54" name="Text 52"/>
          <p:cNvSpPr/>
          <p:nvPr/>
        </p:nvSpPr>
        <p:spPr>
          <a:xfrm>
            <a:off x="4315968" y="4297680"/>
            <a:ext cx="621792" cy="91440"/>
          </a:xfrm>
          <a:prstGeom prst="rect">
            <a:avLst/>
          </a:prstGeom>
          <a:noFill/>
          <a:ln/>
        </p:spPr>
        <p:txBody>
          <a:bodyPr wrap="square" lIns="0" tIns="0" rIns="0" bIns="0" rtlCol="0" anchor="ctr">
            <a:normAutofit/>
          </a:bodyPr>
          <a:lstStyle/>
          <a:p>
            <a:pPr marL="0" indent="0">
              <a:buNone/>
            </a:pPr>
            <a:r>
              <a:rPr lang="en-US" sz="680" dirty="0">
                <a:solidFill>
                  <a:srgbClr val="64748B"/>
                </a:solidFill>
              </a:rPr>
              <a:t>Grace</a:t>
            </a:r>
            <a:endParaRPr lang="en-US" sz="680" dirty="0"/>
          </a:p>
        </p:txBody>
      </p:sp>
      <p:sp>
        <p:nvSpPr>
          <p:cNvPr id="55" name="Text 53"/>
          <p:cNvSpPr/>
          <p:nvPr/>
        </p:nvSpPr>
        <p:spPr>
          <a:xfrm>
            <a:off x="4315968" y="4434840"/>
            <a:ext cx="1005840" cy="91440"/>
          </a:xfrm>
          <a:prstGeom prst="rect">
            <a:avLst/>
          </a:prstGeom>
          <a:noFill/>
          <a:ln/>
        </p:spPr>
        <p:txBody>
          <a:bodyPr wrap="square" lIns="0" tIns="0" rIns="0" bIns="0" rtlCol="0" anchor="ctr">
            <a:normAutofit/>
          </a:bodyPr>
          <a:lstStyle/>
          <a:p>
            <a:pPr marL="0" indent="0">
              <a:buNone/>
            </a:pPr>
            <a:r>
              <a:rPr lang="en-US" sz="820" b="1" dirty="0">
                <a:solidFill>
                  <a:srgbClr val="1E293B"/>
                </a:solidFill>
              </a:rPr>
              <a:t>10 phút</a:t>
            </a:r>
            <a:endParaRPr lang="en-US" sz="820" dirty="0"/>
          </a:p>
        </p:txBody>
      </p:sp>
      <p:sp>
        <p:nvSpPr>
          <p:cNvPr id="56" name="Shape 54"/>
          <p:cNvSpPr/>
          <p:nvPr/>
        </p:nvSpPr>
        <p:spPr>
          <a:xfrm>
            <a:off x="987552" y="4754880"/>
            <a:ext cx="1325880" cy="384048"/>
          </a:xfrm>
          <a:prstGeom prst="roundRect">
            <a:avLst>
              <a:gd name="adj" fmla="val 9524"/>
            </a:avLst>
          </a:prstGeom>
          <a:solidFill>
            <a:srgbClr val="FEF3C7"/>
          </a:solidFill>
          <a:ln w="12700">
            <a:solidFill>
              <a:srgbClr val="FCD34D"/>
            </a:solidFill>
            <a:prstDash val="solid"/>
          </a:ln>
        </p:spPr>
      </p:sp>
      <p:sp>
        <p:nvSpPr>
          <p:cNvPr id="57" name="Text 55"/>
          <p:cNvSpPr/>
          <p:nvPr/>
        </p:nvSpPr>
        <p:spPr>
          <a:xfrm>
            <a:off x="1060704" y="4828032"/>
            <a:ext cx="621792" cy="91440"/>
          </a:xfrm>
          <a:prstGeom prst="rect">
            <a:avLst/>
          </a:prstGeom>
          <a:noFill/>
          <a:ln/>
        </p:spPr>
        <p:txBody>
          <a:bodyPr wrap="square" lIns="0" tIns="0" rIns="0" bIns="0" rtlCol="0" anchor="ctr">
            <a:normAutofit/>
          </a:bodyPr>
          <a:lstStyle/>
          <a:p>
            <a:pPr marL="0" indent="0">
              <a:buNone/>
            </a:pPr>
            <a:r>
              <a:rPr lang="en-US" sz="680" dirty="0">
                <a:solidFill>
                  <a:srgbClr val="64748B"/>
                </a:solidFill>
              </a:rPr>
              <a:t>Đi muộn</a:t>
            </a:r>
            <a:endParaRPr lang="en-US" sz="680" dirty="0"/>
          </a:p>
        </p:txBody>
      </p:sp>
      <p:sp>
        <p:nvSpPr>
          <p:cNvPr id="58" name="Text 56"/>
          <p:cNvSpPr/>
          <p:nvPr/>
        </p:nvSpPr>
        <p:spPr>
          <a:xfrm>
            <a:off x="1060704" y="4965192"/>
            <a:ext cx="1005840" cy="91440"/>
          </a:xfrm>
          <a:prstGeom prst="rect">
            <a:avLst/>
          </a:prstGeom>
          <a:noFill/>
          <a:ln/>
        </p:spPr>
        <p:txBody>
          <a:bodyPr wrap="square" lIns="0" tIns="0" rIns="0" bIns="0" rtlCol="0" anchor="ctr">
            <a:normAutofit/>
          </a:bodyPr>
          <a:lstStyle/>
          <a:p>
            <a:pPr marL="0" indent="0">
              <a:buNone/>
            </a:pPr>
            <a:r>
              <a:rPr lang="en-US" sz="820" b="1" dirty="0">
                <a:solidFill>
                  <a:srgbClr val="B45309"/>
                </a:solidFill>
              </a:rPr>
              <a:t>15 phút</a:t>
            </a:r>
            <a:endParaRPr lang="en-US" sz="820" dirty="0"/>
          </a:p>
        </p:txBody>
      </p:sp>
      <p:sp>
        <p:nvSpPr>
          <p:cNvPr id="59" name="Shape 57"/>
          <p:cNvSpPr/>
          <p:nvPr/>
        </p:nvSpPr>
        <p:spPr>
          <a:xfrm>
            <a:off x="2615184" y="4754880"/>
            <a:ext cx="1325880" cy="384048"/>
          </a:xfrm>
          <a:prstGeom prst="roundRect">
            <a:avLst>
              <a:gd name="adj" fmla="val 9524"/>
            </a:avLst>
          </a:prstGeom>
          <a:solidFill>
            <a:srgbClr val="EFF6FF"/>
          </a:solidFill>
          <a:ln w="12700">
            <a:solidFill>
              <a:srgbClr val="BFDBFE"/>
            </a:solidFill>
            <a:prstDash val="solid"/>
          </a:ln>
        </p:spPr>
      </p:sp>
      <p:sp>
        <p:nvSpPr>
          <p:cNvPr id="60" name="Text 58"/>
          <p:cNvSpPr/>
          <p:nvPr/>
        </p:nvSpPr>
        <p:spPr>
          <a:xfrm>
            <a:off x="2688336" y="4828032"/>
            <a:ext cx="621792" cy="91440"/>
          </a:xfrm>
          <a:prstGeom prst="rect">
            <a:avLst/>
          </a:prstGeom>
          <a:noFill/>
          <a:ln/>
        </p:spPr>
        <p:txBody>
          <a:bodyPr wrap="square" lIns="0" tIns="0" rIns="0" bIns="0" rtlCol="0" anchor="ctr">
            <a:normAutofit/>
          </a:bodyPr>
          <a:lstStyle/>
          <a:p>
            <a:pPr marL="0" indent="0">
              <a:buNone/>
            </a:pPr>
            <a:r>
              <a:rPr lang="en-US" sz="680" dirty="0">
                <a:solidFill>
                  <a:srgbClr val="64748B"/>
                </a:solidFill>
              </a:rPr>
              <a:t>Về sớm</a:t>
            </a:r>
            <a:endParaRPr lang="en-US" sz="680" dirty="0"/>
          </a:p>
        </p:txBody>
      </p:sp>
      <p:sp>
        <p:nvSpPr>
          <p:cNvPr id="61" name="Text 59"/>
          <p:cNvSpPr/>
          <p:nvPr/>
        </p:nvSpPr>
        <p:spPr>
          <a:xfrm>
            <a:off x="2688336" y="4965192"/>
            <a:ext cx="1005840" cy="91440"/>
          </a:xfrm>
          <a:prstGeom prst="rect">
            <a:avLst/>
          </a:prstGeom>
          <a:noFill/>
          <a:ln/>
        </p:spPr>
        <p:txBody>
          <a:bodyPr wrap="square" lIns="0" tIns="0" rIns="0" bIns="0" rtlCol="0" anchor="ctr">
            <a:normAutofit/>
          </a:bodyPr>
          <a:lstStyle/>
          <a:p>
            <a:pPr marL="0" indent="0">
              <a:buNone/>
            </a:pPr>
            <a:r>
              <a:rPr lang="en-US" sz="820" b="1" dirty="0">
                <a:solidFill>
                  <a:srgbClr val="1E293B"/>
                </a:solidFill>
              </a:rPr>
              <a:t>0 phút</a:t>
            </a:r>
            <a:endParaRPr lang="en-US" sz="820" dirty="0"/>
          </a:p>
        </p:txBody>
      </p:sp>
      <p:sp>
        <p:nvSpPr>
          <p:cNvPr id="62" name="Shape 60"/>
          <p:cNvSpPr/>
          <p:nvPr/>
        </p:nvSpPr>
        <p:spPr>
          <a:xfrm>
            <a:off x="6720840" y="1627632"/>
            <a:ext cx="4526280" cy="4389120"/>
          </a:xfrm>
          <a:prstGeom prst="roundRect">
            <a:avLst>
              <a:gd name="adj" fmla="val 1458"/>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63" name="Text 61"/>
          <p:cNvSpPr/>
          <p:nvPr/>
        </p:nvSpPr>
        <p:spPr>
          <a:xfrm>
            <a:off x="7086600" y="1938528"/>
            <a:ext cx="3108960" cy="228600"/>
          </a:xfrm>
          <a:prstGeom prst="rect">
            <a:avLst/>
          </a:prstGeom>
          <a:noFill/>
          <a:ln/>
        </p:spPr>
        <p:txBody>
          <a:bodyPr wrap="square" lIns="0" tIns="0" rIns="0" bIns="0" rtlCol="0" anchor="ctr"/>
          <a:lstStyle/>
          <a:p>
            <a:pPr marL="0" indent="0">
              <a:buNone/>
            </a:pPr>
            <a:r>
              <a:rPr lang="en-US" sz="1700" b="1" dirty="0">
                <a:solidFill>
                  <a:srgbClr val="0F172A"/>
                </a:solidFill>
              </a:rPr>
              <a:t>Logic tính trạng thái</a:t>
            </a:r>
            <a:endParaRPr lang="en-US" sz="1700" dirty="0"/>
          </a:p>
        </p:txBody>
      </p:sp>
      <p:sp>
        <p:nvSpPr>
          <p:cNvPr id="64" name="Text 62"/>
          <p:cNvSpPr/>
          <p:nvPr/>
        </p:nvSpPr>
        <p:spPr>
          <a:xfrm>
            <a:off x="7104888" y="2414016"/>
            <a:ext cx="1170432" cy="137160"/>
          </a:xfrm>
          <a:prstGeom prst="rect">
            <a:avLst/>
          </a:prstGeom>
          <a:noFill/>
          <a:ln/>
        </p:spPr>
        <p:txBody>
          <a:bodyPr wrap="square" lIns="0" tIns="0" rIns="0" bIns="0" rtlCol="0" anchor="ctr">
            <a:normAutofit/>
          </a:bodyPr>
          <a:lstStyle/>
          <a:p>
            <a:pPr marL="0" indent="0">
              <a:buNone/>
            </a:pPr>
            <a:r>
              <a:rPr lang="en-US" sz="970" b="1" dirty="0">
                <a:solidFill>
                  <a:srgbClr val="1A56DB"/>
                </a:solidFill>
              </a:rPr>
              <a:t>leave / absent</a:t>
            </a:r>
            <a:endParaRPr lang="en-US" sz="970" dirty="0"/>
          </a:p>
        </p:txBody>
      </p:sp>
      <p:sp>
        <p:nvSpPr>
          <p:cNvPr id="65" name="Text 63"/>
          <p:cNvSpPr/>
          <p:nvPr/>
        </p:nvSpPr>
        <p:spPr>
          <a:xfrm>
            <a:off x="8549640" y="2414016"/>
            <a:ext cx="2057400" cy="137160"/>
          </a:xfrm>
          <a:prstGeom prst="rect">
            <a:avLst/>
          </a:prstGeom>
          <a:noFill/>
          <a:ln/>
        </p:spPr>
        <p:txBody>
          <a:bodyPr wrap="square" lIns="0" tIns="0" rIns="0" bIns="0" rtlCol="0" anchor="ctr">
            <a:normAutofit/>
          </a:bodyPr>
          <a:lstStyle/>
          <a:p>
            <a:pPr marL="0" indent="0">
              <a:buNone/>
            </a:pPr>
            <a:r>
              <a:rPr lang="en-US" sz="970" dirty="0">
                <a:solidFill>
                  <a:srgbClr val="1E293B"/>
                </a:solidFill>
              </a:rPr>
              <a:t>→ trả trạng thái trực tiếp</a:t>
            </a:r>
            <a:endParaRPr lang="en-US" sz="970" dirty="0"/>
          </a:p>
        </p:txBody>
      </p:sp>
      <p:sp>
        <p:nvSpPr>
          <p:cNvPr id="66" name="Text 64"/>
          <p:cNvSpPr/>
          <p:nvPr/>
        </p:nvSpPr>
        <p:spPr>
          <a:xfrm>
            <a:off x="7104888" y="2926080"/>
            <a:ext cx="1170432" cy="137160"/>
          </a:xfrm>
          <a:prstGeom prst="rect">
            <a:avLst/>
          </a:prstGeom>
          <a:noFill/>
          <a:ln/>
        </p:spPr>
        <p:txBody>
          <a:bodyPr wrap="square" lIns="0" tIns="0" rIns="0" bIns="0" rtlCol="0" anchor="ctr">
            <a:normAutofit/>
          </a:bodyPr>
          <a:lstStyle/>
          <a:p>
            <a:pPr marL="0" indent="0">
              <a:buNone/>
            </a:pPr>
            <a:r>
              <a:rPr lang="en-US" sz="970" b="1" dirty="0">
                <a:solidFill>
                  <a:srgbClr val="F59E0B"/>
                </a:solidFill>
              </a:rPr>
              <a:t>in &gt; start + grace</a:t>
            </a:r>
            <a:endParaRPr lang="en-US" sz="970" dirty="0"/>
          </a:p>
        </p:txBody>
      </p:sp>
      <p:sp>
        <p:nvSpPr>
          <p:cNvPr id="67" name="Text 65"/>
          <p:cNvSpPr/>
          <p:nvPr/>
        </p:nvSpPr>
        <p:spPr>
          <a:xfrm>
            <a:off x="8549640" y="2926080"/>
            <a:ext cx="2057400" cy="137160"/>
          </a:xfrm>
          <a:prstGeom prst="rect">
            <a:avLst/>
          </a:prstGeom>
          <a:noFill/>
          <a:ln/>
        </p:spPr>
        <p:txBody>
          <a:bodyPr wrap="square" lIns="0" tIns="0" rIns="0" bIns="0" rtlCol="0" anchor="ctr">
            <a:normAutofit/>
          </a:bodyPr>
          <a:lstStyle/>
          <a:p>
            <a:pPr marL="0" indent="0">
              <a:buNone/>
            </a:pPr>
            <a:r>
              <a:rPr lang="en-US" sz="970" dirty="0">
                <a:solidFill>
                  <a:srgbClr val="1E293B"/>
                </a:solidFill>
              </a:rPr>
              <a:t>→ đi muộn</a:t>
            </a:r>
            <a:endParaRPr lang="en-US" sz="970" dirty="0"/>
          </a:p>
        </p:txBody>
      </p:sp>
      <p:sp>
        <p:nvSpPr>
          <p:cNvPr id="68" name="Text 66"/>
          <p:cNvSpPr/>
          <p:nvPr/>
        </p:nvSpPr>
        <p:spPr>
          <a:xfrm>
            <a:off x="7104888" y="3438144"/>
            <a:ext cx="1170432" cy="137160"/>
          </a:xfrm>
          <a:prstGeom prst="rect">
            <a:avLst/>
          </a:prstGeom>
          <a:noFill/>
          <a:ln/>
        </p:spPr>
        <p:txBody>
          <a:bodyPr wrap="square" lIns="0" tIns="0" rIns="0" bIns="0" rtlCol="0" anchor="ctr">
            <a:normAutofit/>
          </a:bodyPr>
          <a:lstStyle/>
          <a:p>
            <a:pPr marL="0" indent="0">
              <a:buNone/>
            </a:pPr>
            <a:r>
              <a:rPr lang="en-US" sz="970" b="1" dirty="0">
                <a:solidFill>
                  <a:srgbClr val="F59E0B"/>
                </a:solidFill>
              </a:rPr>
              <a:t>out &lt; end</a:t>
            </a:r>
            <a:endParaRPr lang="en-US" sz="970" dirty="0"/>
          </a:p>
        </p:txBody>
      </p:sp>
      <p:sp>
        <p:nvSpPr>
          <p:cNvPr id="69" name="Text 67"/>
          <p:cNvSpPr/>
          <p:nvPr/>
        </p:nvSpPr>
        <p:spPr>
          <a:xfrm>
            <a:off x="8549640" y="3438144"/>
            <a:ext cx="2057400" cy="137160"/>
          </a:xfrm>
          <a:prstGeom prst="rect">
            <a:avLst/>
          </a:prstGeom>
          <a:noFill/>
          <a:ln/>
        </p:spPr>
        <p:txBody>
          <a:bodyPr wrap="square" lIns="0" tIns="0" rIns="0" bIns="0" rtlCol="0" anchor="ctr">
            <a:normAutofit/>
          </a:bodyPr>
          <a:lstStyle/>
          <a:p>
            <a:pPr marL="0" indent="0">
              <a:buNone/>
            </a:pPr>
            <a:r>
              <a:rPr lang="en-US" sz="970" dirty="0">
                <a:solidFill>
                  <a:srgbClr val="1E293B"/>
                </a:solidFill>
              </a:rPr>
              <a:t>→ về sớm</a:t>
            </a:r>
            <a:endParaRPr lang="en-US" sz="970" dirty="0"/>
          </a:p>
        </p:txBody>
      </p:sp>
      <p:sp>
        <p:nvSpPr>
          <p:cNvPr id="70" name="Text 68"/>
          <p:cNvSpPr/>
          <p:nvPr/>
        </p:nvSpPr>
        <p:spPr>
          <a:xfrm>
            <a:off x="7104888" y="3950208"/>
            <a:ext cx="1170432" cy="137160"/>
          </a:xfrm>
          <a:prstGeom prst="rect">
            <a:avLst/>
          </a:prstGeom>
          <a:noFill/>
          <a:ln/>
        </p:spPr>
        <p:txBody>
          <a:bodyPr wrap="square" lIns="0" tIns="0" rIns="0" bIns="0" rtlCol="0" anchor="ctr">
            <a:normAutofit/>
          </a:bodyPr>
          <a:lstStyle/>
          <a:p>
            <a:pPr marL="0" indent="0">
              <a:buNone/>
            </a:pPr>
            <a:r>
              <a:rPr lang="en-US" sz="970" b="1" dirty="0">
                <a:solidFill>
                  <a:srgbClr val="8B5CF6"/>
                </a:solidFill>
              </a:rPr>
              <a:t>ca đêm</a:t>
            </a:r>
            <a:endParaRPr lang="en-US" sz="970" dirty="0"/>
          </a:p>
        </p:txBody>
      </p:sp>
      <p:sp>
        <p:nvSpPr>
          <p:cNvPr id="71" name="Text 69"/>
          <p:cNvSpPr/>
          <p:nvPr/>
        </p:nvSpPr>
        <p:spPr>
          <a:xfrm>
            <a:off x="8549640" y="3950208"/>
            <a:ext cx="2057400" cy="137160"/>
          </a:xfrm>
          <a:prstGeom prst="rect">
            <a:avLst/>
          </a:prstGeom>
          <a:noFill/>
          <a:ln/>
        </p:spPr>
        <p:txBody>
          <a:bodyPr wrap="square" lIns="0" tIns="0" rIns="0" bIns="0" rtlCol="0" anchor="ctr">
            <a:normAutofit/>
          </a:bodyPr>
          <a:lstStyle/>
          <a:p>
            <a:pPr marL="0" indent="0">
              <a:buNone/>
            </a:pPr>
            <a:r>
              <a:rPr lang="en-US" sz="970" dirty="0">
                <a:solidFill>
                  <a:srgbClr val="1E293B"/>
                </a:solidFill>
              </a:rPr>
              <a:t>→ xử lý qua ngày bằng +1440 phút</a:t>
            </a:r>
            <a:endParaRPr lang="en-US" sz="970" dirty="0"/>
          </a:p>
        </p:txBody>
      </p:sp>
      <p:sp>
        <p:nvSpPr>
          <p:cNvPr id="72" name="Text 70"/>
          <p:cNvSpPr/>
          <p:nvPr/>
        </p:nvSpPr>
        <p:spPr>
          <a:xfrm>
            <a:off x="7104888" y="4462272"/>
            <a:ext cx="1170432" cy="137160"/>
          </a:xfrm>
          <a:prstGeom prst="rect">
            <a:avLst/>
          </a:prstGeom>
          <a:noFill/>
          <a:ln/>
        </p:spPr>
        <p:txBody>
          <a:bodyPr wrap="square" lIns="0" tIns="0" rIns="0" bIns="0" rtlCol="0" anchor="ctr">
            <a:normAutofit/>
          </a:bodyPr>
          <a:lstStyle/>
          <a:p>
            <a:pPr marL="0" indent="0">
              <a:buNone/>
            </a:pPr>
            <a:r>
              <a:rPr lang="en-US" sz="970" b="1" dirty="0">
                <a:solidFill>
                  <a:srgbClr val="10B981"/>
                </a:solidFill>
              </a:rPr>
              <a:t>không lỗi</a:t>
            </a:r>
            <a:endParaRPr lang="en-US" sz="970" dirty="0"/>
          </a:p>
        </p:txBody>
      </p:sp>
      <p:sp>
        <p:nvSpPr>
          <p:cNvPr id="73" name="Text 71"/>
          <p:cNvSpPr/>
          <p:nvPr/>
        </p:nvSpPr>
        <p:spPr>
          <a:xfrm>
            <a:off x="8549640" y="4462272"/>
            <a:ext cx="2057400" cy="137160"/>
          </a:xfrm>
          <a:prstGeom prst="rect">
            <a:avLst/>
          </a:prstGeom>
          <a:noFill/>
          <a:ln/>
        </p:spPr>
        <p:txBody>
          <a:bodyPr wrap="square" lIns="0" tIns="0" rIns="0" bIns="0" rtlCol="0" anchor="ctr">
            <a:normAutofit/>
          </a:bodyPr>
          <a:lstStyle/>
          <a:p>
            <a:pPr marL="0" indent="0">
              <a:buNone/>
            </a:pPr>
            <a:r>
              <a:rPr lang="en-US" sz="970" dirty="0">
                <a:solidFill>
                  <a:srgbClr val="1E293B"/>
                </a:solidFill>
              </a:rPr>
              <a:t>→ present / đúng giờ</a:t>
            </a:r>
            <a:endParaRPr lang="en-US" sz="970" dirty="0"/>
          </a:p>
        </p:txBody>
      </p:sp>
      <p:sp>
        <p:nvSpPr>
          <p:cNvPr id="74" name="Shape 72"/>
          <p:cNvSpPr/>
          <p:nvPr/>
        </p:nvSpPr>
        <p:spPr>
          <a:xfrm>
            <a:off x="7086600" y="5166360"/>
            <a:ext cx="3611880" cy="438912"/>
          </a:xfrm>
          <a:prstGeom prst="roundRect">
            <a:avLst>
              <a:gd name="adj" fmla="val 10417"/>
            </a:avLst>
          </a:prstGeom>
          <a:solidFill>
            <a:srgbClr val="FFFBEB"/>
          </a:solidFill>
          <a:ln w="12700">
            <a:solidFill>
              <a:srgbClr val="FDE68A"/>
            </a:solidFill>
            <a:prstDash val="solid"/>
          </a:ln>
        </p:spPr>
      </p:sp>
      <p:sp>
        <p:nvSpPr>
          <p:cNvPr id="75" name="Text 73"/>
          <p:cNvSpPr/>
          <p:nvPr/>
        </p:nvSpPr>
        <p:spPr>
          <a:xfrm>
            <a:off x="7333488" y="5330952"/>
            <a:ext cx="3108960" cy="109728"/>
          </a:xfrm>
          <a:prstGeom prst="rect">
            <a:avLst/>
          </a:prstGeom>
          <a:noFill/>
          <a:ln/>
        </p:spPr>
        <p:txBody>
          <a:bodyPr wrap="square" lIns="0" tIns="0" rIns="0" bIns="0" rtlCol="0" anchor="ctr">
            <a:normAutofit/>
          </a:bodyPr>
          <a:lstStyle/>
          <a:p>
            <a:pPr marL="0" indent="0">
              <a:buNone/>
            </a:pPr>
            <a:r>
              <a:rPr lang="en-US" sz="940" b="1" dirty="0">
                <a:solidFill>
                  <a:srgbClr val="92400E"/>
                </a:solidFill>
              </a:rPr>
              <a:t>Kết quả dùng tiếp cho tính công và khấu trừ lương.</a:t>
            </a:r>
            <a:endParaRPr lang="en-US" sz="940" dirty="0"/>
          </a:p>
        </p:txBody>
      </p:sp>
      <p:sp>
        <p:nvSpPr>
          <p:cNvPr id="76"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07 · KẾT QUẢ NGHIỆP VỤ</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Tính lương, KPI và báo cáo</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Các module phía sau sử dụng dữ liệu nhân viên, chấm công và cấu hình để tạo kết quả quản trị.</a:t>
            </a:r>
            <a:endParaRPr lang="en-US" sz="1350" dirty="0"/>
          </a:p>
        </p:txBody>
      </p:sp>
      <p:sp>
        <p:nvSpPr>
          <p:cNvPr id="5" name="Shape 3"/>
          <p:cNvSpPr/>
          <p:nvPr/>
        </p:nvSpPr>
        <p:spPr>
          <a:xfrm>
            <a:off x="786384" y="1783080"/>
            <a:ext cx="3154680" cy="3566160"/>
          </a:xfrm>
          <a:prstGeom prst="roundRect">
            <a:avLst>
              <a:gd name="adj" fmla="val 2029"/>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6" name="Text 4"/>
          <p:cNvSpPr/>
          <p:nvPr/>
        </p:nvSpPr>
        <p:spPr>
          <a:xfrm>
            <a:off x="996696" y="2057400"/>
            <a:ext cx="457200" cy="32004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7" name="Text 5"/>
          <p:cNvSpPr/>
          <p:nvPr/>
        </p:nvSpPr>
        <p:spPr>
          <a:xfrm>
            <a:off x="1563624" y="2057400"/>
            <a:ext cx="1920240" cy="228600"/>
          </a:xfrm>
          <a:prstGeom prst="rect">
            <a:avLst/>
          </a:prstGeom>
          <a:noFill/>
          <a:ln/>
        </p:spPr>
        <p:txBody>
          <a:bodyPr wrap="square" lIns="0" tIns="0" rIns="0" bIns="0" rtlCol="0" anchor="ctr"/>
          <a:lstStyle/>
          <a:p>
            <a:pPr marL="0" indent="0">
              <a:buNone/>
            </a:pPr>
            <a:r>
              <a:rPr lang="en-US" sz="1700" b="1" dirty="0">
                <a:solidFill>
                  <a:srgbClr val="10B981"/>
                </a:solidFill>
              </a:rPr>
              <a:t>Tính lương</a:t>
            </a:r>
            <a:endParaRPr lang="en-US" sz="1700" dirty="0"/>
          </a:p>
        </p:txBody>
      </p:sp>
      <p:sp>
        <p:nvSpPr>
          <p:cNvPr id="8" name="Shape 6"/>
          <p:cNvSpPr/>
          <p:nvPr/>
        </p:nvSpPr>
        <p:spPr>
          <a:xfrm>
            <a:off x="1042416" y="2651760"/>
            <a:ext cx="2606040" cy="1627632"/>
          </a:xfrm>
          <a:prstGeom prst="roundRect">
            <a:avLst>
              <a:gd name="adj" fmla="val 3371"/>
            </a:avLst>
          </a:prstGeom>
          <a:solidFill>
            <a:srgbClr val="F0FDF4"/>
          </a:solidFill>
          <a:ln w="12700">
            <a:solidFill>
              <a:srgbClr val="10B981">
                <a:alpha val="30000"/>
              </a:srgbClr>
            </a:solidFill>
            <a:prstDash val="solid"/>
          </a:ln>
        </p:spPr>
      </p:sp>
      <p:sp>
        <p:nvSpPr>
          <p:cNvPr id="9" name="Text 7"/>
          <p:cNvSpPr/>
          <p:nvPr/>
        </p:nvSpPr>
        <p:spPr>
          <a:xfrm>
            <a:off x="1225296" y="2880360"/>
            <a:ext cx="2194560" cy="1097280"/>
          </a:xfrm>
          <a:prstGeom prst="rect">
            <a:avLst/>
          </a:prstGeom>
          <a:noFill/>
          <a:ln/>
        </p:spPr>
        <p:txBody>
          <a:bodyPr wrap="square" lIns="254" tIns="254" rIns="254" bIns="254" rtlCol="0" anchor="ctr">
            <a:normAutofit/>
          </a:bodyPr>
          <a:lstStyle/>
          <a:p>
            <a:pPr marL="0" indent="0">
              <a:buNone/>
            </a:pPr>
            <a:r>
              <a:rPr lang="en-US" sz="1240" dirty="0">
                <a:solidFill>
                  <a:srgbClr val="1E293B"/>
                </a:solidFill>
              </a:rPr>
              <a:t>Lương cơ bản / công chuẩn</a:t>
            </a:r>
            <a:endParaRPr lang="en-US" sz="1240" dirty="0"/>
          </a:p>
          <a:p>
            <a:pPr marL="0" indent="0">
              <a:buNone/>
            </a:pPr>
            <a:r>
              <a:rPr lang="en-US" sz="1240" dirty="0">
                <a:solidFill>
                  <a:srgbClr val="1E293B"/>
                </a:solidFill>
              </a:rPr>
              <a:t>+ phụ cấp</a:t>
            </a:r>
            <a:endParaRPr lang="en-US" sz="1240" dirty="0"/>
          </a:p>
          <a:p>
            <a:pPr marL="0" indent="0">
              <a:buNone/>
            </a:pPr>
            <a:r>
              <a:rPr lang="en-US" sz="1240" dirty="0">
                <a:solidFill>
                  <a:srgbClr val="1E293B"/>
                </a:solidFill>
              </a:rPr>
              <a:t>− muộn/vắng</a:t>
            </a:r>
            <a:endParaRPr lang="en-US" sz="1240" dirty="0"/>
          </a:p>
          <a:p>
            <a:pPr marL="0" indent="0">
              <a:buNone/>
            </a:pPr>
            <a:r>
              <a:rPr lang="en-US" sz="1240" dirty="0">
                <a:solidFill>
                  <a:srgbClr val="1E293B"/>
                </a:solidFill>
              </a:rPr>
              <a:t>− bảo hiểm / thuế</a:t>
            </a:r>
            <a:endParaRPr lang="en-US" sz="1240" dirty="0"/>
          </a:p>
        </p:txBody>
      </p:sp>
      <p:sp>
        <p:nvSpPr>
          <p:cNvPr id="10" name="Shape 8"/>
          <p:cNvSpPr/>
          <p:nvPr/>
        </p:nvSpPr>
        <p:spPr>
          <a:xfrm>
            <a:off x="4489704" y="1783080"/>
            <a:ext cx="3154680" cy="3566160"/>
          </a:xfrm>
          <a:prstGeom prst="roundRect">
            <a:avLst>
              <a:gd name="adj" fmla="val 2029"/>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1" name="Text 9"/>
          <p:cNvSpPr/>
          <p:nvPr/>
        </p:nvSpPr>
        <p:spPr>
          <a:xfrm>
            <a:off x="4700016" y="2057400"/>
            <a:ext cx="457200" cy="32004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2" name="Text 10"/>
          <p:cNvSpPr/>
          <p:nvPr/>
        </p:nvSpPr>
        <p:spPr>
          <a:xfrm>
            <a:off x="5266944" y="2057400"/>
            <a:ext cx="1920240" cy="228600"/>
          </a:xfrm>
          <a:prstGeom prst="rect">
            <a:avLst/>
          </a:prstGeom>
          <a:noFill/>
          <a:ln/>
        </p:spPr>
        <p:txBody>
          <a:bodyPr wrap="square" lIns="0" tIns="0" rIns="0" bIns="0" rtlCol="0" anchor="ctr"/>
          <a:lstStyle/>
          <a:p>
            <a:pPr marL="0" indent="0">
              <a:buNone/>
            </a:pPr>
            <a:r>
              <a:rPr lang="en-US" sz="1700" b="1" dirty="0">
                <a:solidFill>
                  <a:srgbClr val="8B5CF6"/>
                </a:solidFill>
              </a:rPr>
              <a:t>KPI trọng số</a:t>
            </a:r>
            <a:endParaRPr lang="en-US" sz="1700" dirty="0"/>
          </a:p>
        </p:txBody>
      </p:sp>
      <p:sp>
        <p:nvSpPr>
          <p:cNvPr id="13" name="Shape 11"/>
          <p:cNvSpPr/>
          <p:nvPr/>
        </p:nvSpPr>
        <p:spPr>
          <a:xfrm>
            <a:off x="4745736" y="2651760"/>
            <a:ext cx="2606040" cy="1627632"/>
          </a:xfrm>
          <a:prstGeom prst="roundRect">
            <a:avLst>
              <a:gd name="adj" fmla="val 3371"/>
            </a:avLst>
          </a:prstGeom>
          <a:solidFill>
            <a:srgbClr val="F5F3FF"/>
          </a:solidFill>
          <a:ln w="12700">
            <a:solidFill>
              <a:srgbClr val="8B5CF6">
                <a:alpha val="30000"/>
              </a:srgbClr>
            </a:solidFill>
            <a:prstDash val="solid"/>
          </a:ln>
        </p:spPr>
      </p:sp>
      <p:sp>
        <p:nvSpPr>
          <p:cNvPr id="14" name="Text 12"/>
          <p:cNvSpPr/>
          <p:nvPr/>
        </p:nvSpPr>
        <p:spPr>
          <a:xfrm>
            <a:off x="4928616" y="2880360"/>
            <a:ext cx="2194560" cy="1097280"/>
          </a:xfrm>
          <a:prstGeom prst="rect">
            <a:avLst/>
          </a:prstGeom>
          <a:noFill/>
          <a:ln/>
        </p:spPr>
        <p:txBody>
          <a:bodyPr wrap="square" lIns="254" tIns="254" rIns="254" bIns="254" rtlCol="0" anchor="ctr">
            <a:normAutofit/>
          </a:bodyPr>
          <a:lstStyle/>
          <a:p>
            <a:pPr marL="0" indent="0">
              <a:buNone/>
            </a:pPr>
            <a:r>
              <a:rPr lang="en-US" sz="1240" dirty="0">
                <a:solidFill>
                  <a:srgbClr val="1E293B"/>
                </a:solidFill>
              </a:rPr>
              <a:t>Doanh số 25%</a:t>
            </a:r>
            <a:endParaRPr lang="en-US" sz="1240" dirty="0"/>
          </a:p>
          <a:p>
            <a:pPr marL="0" indent="0">
              <a:buNone/>
            </a:pPr>
            <a:r>
              <a:rPr lang="en-US" sz="1240" dirty="0">
                <a:solidFill>
                  <a:srgbClr val="1E293B"/>
                </a:solidFill>
              </a:rPr>
              <a:t>Chuyên cần 20%</a:t>
            </a:r>
            <a:endParaRPr lang="en-US" sz="1240" dirty="0"/>
          </a:p>
          <a:p>
            <a:pPr marL="0" indent="0">
              <a:buNone/>
            </a:pPr>
            <a:r>
              <a:rPr lang="en-US" sz="1240" dirty="0">
                <a:solidFill>
                  <a:srgbClr val="1E293B"/>
                </a:solidFill>
              </a:rPr>
              <a:t>Task 25%</a:t>
            </a:r>
            <a:endParaRPr lang="en-US" sz="1240" dirty="0"/>
          </a:p>
          <a:p>
            <a:pPr marL="0" indent="0">
              <a:buNone/>
            </a:pPr>
            <a:r>
              <a:rPr lang="en-US" sz="1240" dirty="0">
                <a:solidFill>
                  <a:srgbClr val="1E293B"/>
                </a:solidFill>
              </a:rPr>
              <a:t>Deadline 15%</a:t>
            </a:r>
            <a:endParaRPr lang="en-US" sz="1240" dirty="0"/>
          </a:p>
          <a:p>
            <a:pPr marL="0" indent="0">
              <a:buNone/>
            </a:pPr>
            <a:r>
              <a:rPr lang="en-US" sz="1240" dirty="0">
                <a:solidFill>
                  <a:srgbClr val="1E293B"/>
                </a:solidFill>
              </a:rPr>
              <a:t>Chất lượng 15%</a:t>
            </a:r>
            <a:endParaRPr lang="en-US" sz="1240" dirty="0"/>
          </a:p>
        </p:txBody>
      </p:sp>
      <p:sp>
        <p:nvSpPr>
          <p:cNvPr id="15" name="Shape 13"/>
          <p:cNvSpPr/>
          <p:nvPr/>
        </p:nvSpPr>
        <p:spPr>
          <a:xfrm>
            <a:off x="8193024" y="1783080"/>
            <a:ext cx="3154680" cy="3566160"/>
          </a:xfrm>
          <a:prstGeom prst="roundRect">
            <a:avLst>
              <a:gd name="adj" fmla="val 2029"/>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6" name="Text 14"/>
          <p:cNvSpPr/>
          <p:nvPr/>
        </p:nvSpPr>
        <p:spPr>
          <a:xfrm>
            <a:off x="8403336" y="2057400"/>
            <a:ext cx="457200" cy="32004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7" name="Text 15"/>
          <p:cNvSpPr/>
          <p:nvPr/>
        </p:nvSpPr>
        <p:spPr>
          <a:xfrm>
            <a:off x="8970264" y="2057400"/>
            <a:ext cx="1920240" cy="228600"/>
          </a:xfrm>
          <a:prstGeom prst="rect">
            <a:avLst/>
          </a:prstGeom>
          <a:noFill/>
          <a:ln/>
        </p:spPr>
        <p:txBody>
          <a:bodyPr wrap="square" lIns="0" tIns="0" rIns="0" bIns="0" rtlCol="0" anchor="ctr"/>
          <a:lstStyle/>
          <a:p>
            <a:pPr marL="0" indent="0">
              <a:buNone/>
            </a:pPr>
            <a:r>
              <a:rPr lang="en-US" sz="1700" b="1" dirty="0">
                <a:solidFill>
                  <a:srgbClr val="1A56DB"/>
                </a:solidFill>
              </a:rPr>
              <a:t>Báo cáo CSV</a:t>
            </a:r>
            <a:endParaRPr lang="en-US" sz="1700" dirty="0"/>
          </a:p>
        </p:txBody>
      </p:sp>
      <p:sp>
        <p:nvSpPr>
          <p:cNvPr id="18" name="Shape 16"/>
          <p:cNvSpPr/>
          <p:nvPr/>
        </p:nvSpPr>
        <p:spPr>
          <a:xfrm>
            <a:off x="8449056" y="2651760"/>
            <a:ext cx="2606040" cy="1627632"/>
          </a:xfrm>
          <a:prstGeom prst="roundRect">
            <a:avLst>
              <a:gd name="adj" fmla="val 3371"/>
            </a:avLst>
          </a:prstGeom>
          <a:solidFill>
            <a:srgbClr val="EFF6FF"/>
          </a:solidFill>
          <a:ln w="12700">
            <a:solidFill>
              <a:srgbClr val="1A56DB">
                <a:alpha val="30000"/>
              </a:srgbClr>
            </a:solidFill>
            <a:prstDash val="solid"/>
          </a:ln>
        </p:spPr>
      </p:sp>
      <p:sp>
        <p:nvSpPr>
          <p:cNvPr id="19" name="Text 17"/>
          <p:cNvSpPr/>
          <p:nvPr/>
        </p:nvSpPr>
        <p:spPr>
          <a:xfrm>
            <a:off x="8631936" y="2880360"/>
            <a:ext cx="2194560" cy="1097280"/>
          </a:xfrm>
          <a:prstGeom prst="rect">
            <a:avLst/>
          </a:prstGeom>
          <a:noFill/>
          <a:ln/>
        </p:spPr>
        <p:txBody>
          <a:bodyPr wrap="square" lIns="254" tIns="254" rIns="254" bIns="254" rtlCol="0" anchor="ctr">
            <a:normAutofit/>
          </a:bodyPr>
          <a:lstStyle/>
          <a:p>
            <a:pPr marL="0" indent="0">
              <a:buNone/>
            </a:pPr>
            <a:r>
              <a:rPr lang="en-US" sz="1240" dirty="0">
                <a:solidFill>
                  <a:srgbClr val="1E293B"/>
                </a:solidFill>
              </a:rPr>
              <a:t>Nhân viên</a:t>
            </a:r>
            <a:endParaRPr lang="en-US" sz="1240" dirty="0"/>
          </a:p>
          <a:p>
            <a:pPr marL="0" indent="0">
              <a:buNone/>
            </a:pPr>
            <a:r>
              <a:rPr lang="en-US" sz="1240" dirty="0">
                <a:solidFill>
                  <a:srgbClr val="1E293B"/>
                </a:solidFill>
              </a:rPr>
              <a:t>Chấm công</a:t>
            </a:r>
            <a:endParaRPr lang="en-US" sz="1240" dirty="0"/>
          </a:p>
          <a:p>
            <a:pPr marL="0" indent="0">
              <a:buNone/>
            </a:pPr>
            <a:r>
              <a:rPr lang="en-US" sz="1240" dirty="0">
                <a:solidFill>
                  <a:srgbClr val="1E293B"/>
                </a:solidFill>
              </a:rPr>
              <a:t>Lương</a:t>
            </a:r>
            <a:endParaRPr lang="en-US" sz="1240" dirty="0"/>
          </a:p>
          <a:p>
            <a:pPr marL="0" indent="0">
              <a:buNone/>
            </a:pPr>
            <a:r>
              <a:rPr lang="en-US" sz="1240" dirty="0">
                <a:solidFill>
                  <a:srgbClr val="1E293B"/>
                </a:solidFill>
              </a:rPr>
              <a:t>KPI</a:t>
            </a:r>
            <a:endParaRPr lang="en-US" sz="1240" dirty="0"/>
          </a:p>
        </p:txBody>
      </p:sp>
      <p:sp>
        <p:nvSpPr>
          <p:cNvPr id="20" name="Text 18"/>
          <p:cNvSpPr/>
          <p:nvPr/>
        </p:nvSpPr>
        <p:spPr>
          <a:xfrm>
            <a:off x="960120" y="5650992"/>
            <a:ext cx="9875520" cy="182880"/>
          </a:xfrm>
          <a:prstGeom prst="rect">
            <a:avLst/>
          </a:prstGeom>
          <a:noFill/>
          <a:ln/>
        </p:spPr>
        <p:txBody>
          <a:bodyPr wrap="square" lIns="0" tIns="0" rIns="0" bIns="0" rtlCol="0" anchor="ctr">
            <a:normAutofit/>
          </a:bodyPr>
          <a:lstStyle/>
          <a:p>
            <a:pPr marL="0" indent="0">
              <a:buNone/>
            </a:pPr>
            <a:r>
              <a:rPr lang="en-US" sz="1040" dirty="0">
                <a:solidFill>
                  <a:srgbClr val="64748B"/>
                </a:solidFill>
              </a:rPr>
              <a:t>Vai trò: Admin/Kế toán xem và chốt lương · HR/Quản lý xử lý KPI và báo cáo · Nhân viên xem dữ liệu cá nhân phù hợp</a:t>
            </a:r>
            <a:endParaRPr lang="en-US" sz="1040" dirty="0"/>
          </a:p>
        </p:txBody>
      </p:sp>
      <p:sp>
        <p:nvSpPr>
          <p:cNvPr id="2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08 · UI</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Thiết kế giao diện và CSS</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Giao diện hướng dashboard, sử dụng component quen thuộc theo tinh thần Bootstrap/Tailwind nhưng vẫn viết CSS thuần.</a:t>
            </a:r>
            <a:endParaRPr lang="en-US" sz="1350" dirty="0"/>
          </a:p>
        </p:txBody>
      </p:sp>
      <p:sp>
        <p:nvSpPr>
          <p:cNvPr id="5" name="Shape 3"/>
          <p:cNvSpPr/>
          <p:nvPr/>
        </p:nvSpPr>
        <p:spPr>
          <a:xfrm>
            <a:off x="685800" y="1508760"/>
            <a:ext cx="5623560" cy="4370832"/>
          </a:xfrm>
          <a:prstGeom prst="roundRect">
            <a:avLst>
              <a:gd name="adj" fmla="val 1464"/>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6" name="Shape 4"/>
          <p:cNvSpPr/>
          <p:nvPr/>
        </p:nvSpPr>
        <p:spPr>
          <a:xfrm>
            <a:off x="685800" y="1508760"/>
            <a:ext cx="1143000" cy="4370832"/>
          </a:xfrm>
          <a:prstGeom prst="rect">
            <a:avLst/>
          </a:prstGeom>
          <a:solidFill>
            <a:srgbClr val="0F172A"/>
          </a:solidFill>
          <a:ln w="12700">
            <a:solidFill>
              <a:srgbClr val="333333">
                <a:alpha val="0"/>
              </a:srgbClr>
            </a:solidFill>
            <a:prstDash val="solid"/>
          </a:ln>
        </p:spPr>
      </p:sp>
      <p:sp>
        <p:nvSpPr>
          <p:cNvPr id="7" name="Text 5"/>
          <p:cNvSpPr/>
          <p:nvPr/>
        </p:nvSpPr>
        <p:spPr>
          <a:xfrm>
            <a:off x="841248" y="1965960"/>
            <a:ext cx="777240" cy="128016"/>
          </a:xfrm>
          <a:prstGeom prst="rect">
            <a:avLst/>
          </a:prstGeom>
          <a:noFill/>
          <a:ln/>
        </p:spPr>
        <p:txBody>
          <a:bodyPr wrap="square" lIns="0" tIns="0" rIns="0" bIns="0" rtlCol="0" anchor="ctr">
            <a:normAutofit/>
          </a:bodyPr>
          <a:lstStyle/>
          <a:p>
            <a:pPr marL="0" indent="0">
              <a:buNone/>
            </a:pPr>
            <a:r>
              <a:rPr lang="en-US" sz="680" dirty="0">
                <a:solidFill>
                  <a:srgbClr val="FFFFFF"/>
                </a:solidFill>
              </a:rPr>
              <a:t>Dashboard</a:t>
            </a:r>
            <a:endParaRPr lang="en-US" sz="680" dirty="0"/>
          </a:p>
        </p:txBody>
      </p:sp>
      <p:sp>
        <p:nvSpPr>
          <p:cNvPr id="8" name="Text 6"/>
          <p:cNvSpPr/>
          <p:nvPr/>
        </p:nvSpPr>
        <p:spPr>
          <a:xfrm>
            <a:off x="841248" y="2441448"/>
            <a:ext cx="777240" cy="128016"/>
          </a:xfrm>
          <a:prstGeom prst="rect">
            <a:avLst/>
          </a:prstGeom>
          <a:noFill/>
          <a:ln/>
        </p:spPr>
        <p:txBody>
          <a:bodyPr wrap="square" lIns="0" tIns="0" rIns="0" bIns="0" rtlCol="0" anchor="ctr">
            <a:normAutofit/>
          </a:bodyPr>
          <a:lstStyle/>
          <a:p>
            <a:pPr marL="0" indent="0">
              <a:buNone/>
            </a:pPr>
            <a:r>
              <a:rPr lang="en-US" sz="680" dirty="0">
                <a:solidFill>
                  <a:srgbClr val="CBD5E1"/>
                </a:solidFill>
              </a:rPr>
              <a:t>Nhân viên</a:t>
            </a:r>
            <a:endParaRPr lang="en-US" sz="680" dirty="0"/>
          </a:p>
        </p:txBody>
      </p:sp>
      <p:sp>
        <p:nvSpPr>
          <p:cNvPr id="9" name="Text 7"/>
          <p:cNvSpPr/>
          <p:nvPr/>
        </p:nvSpPr>
        <p:spPr>
          <a:xfrm>
            <a:off x="841248" y="2916936"/>
            <a:ext cx="777240" cy="128016"/>
          </a:xfrm>
          <a:prstGeom prst="rect">
            <a:avLst/>
          </a:prstGeom>
          <a:noFill/>
          <a:ln/>
        </p:spPr>
        <p:txBody>
          <a:bodyPr wrap="square" lIns="0" tIns="0" rIns="0" bIns="0" rtlCol="0" anchor="ctr">
            <a:normAutofit/>
          </a:bodyPr>
          <a:lstStyle/>
          <a:p>
            <a:pPr marL="0" indent="0">
              <a:buNone/>
            </a:pPr>
            <a:r>
              <a:rPr lang="en-US" sz="680" dirty="0">
                <a:solidFill>
                  <a:srgbClr val="CBD5E1"/>
                </a:solidFill>
              </a:rPr>
              <a:t>Ca làm</a:t>
            </a:r>
            <a:endParaRPr lang="en-US" sz="680" dirty="0"/>
          </a:p>
        </p:txBody>
      </p:sp>
      <p:sp>
        <p:nvSpPr>
          <p:cNvPr id="10" name="Text 8"/>
          <p:cNvSpPr/>
          <p:nvPr/>
        </p:nvSpPr>
        <p:spPr>
          <a:xfrm>
            <a:off x="841248" y="3392424"/>
            <a:ext cx="777240" cy="128016"/>
          </a:xfrm>
          <a:prstGeom prst="rect">
            <a:avLst/>
          </a:prstGeom>
          <a:noFill/>
          <a:ln/>
        </p:spPr>
        <p:txBody>
          <a:bodyPr wrap="square" lIns="0" tIns="0" rIns="0" bIns="0" rtlCol="0" anchor="ctr">
            <a:normAutofit/>
          </a:bodyPr>
          <a:lstStyle/>
          <a:p>
            <a:pPr marL="0" indent="0">
              <a:buNone/>
            </a:pPr>
            <a:r>
              <a:rPr lang="en-US" sz="680" dirty="0">
                <a:solidFill>
                  <a:srgbClr val="CBD5E1"/>
                </a:solidFill>
              </a:rPr>
              <a:t>Chấm công</a:t>
            </a:r>
            <a:endParaRPr lang="en-US" sz="680" dirty="0"/>
          </a:p>
        </p:txBody>
      </p:sp>
      <p:sp>
        <p:nvSpPr>
          <p:cNvPr id="11" name="Text 9"/>
          <p:cNvSpPr/>
          <p:nvPr/>
        </p:nvSpPr>
        <p:spPr>
          <a:xfrm>
            <a:off x="841248" y="3867912"/>
            <a:ext cx="777240" cy="128016"/>
          </a:xfrm>
          <a:prstGeom prst="rect">
            <a:avLst/>
          </a:prstGeom>
          <a:noFill/>
          <a:ln/>
        </p:spPr>
        <p:txBody>
          <a:bodyPr wrap="square" lIns="0" tIns="0" rIns="0" bIns="0" rtlCol="0" anchor="ctr">
            <a:normAutofit/>
          </a:bodyPr>
          <a:lstStyle/>
          <a:p>
            <a:pPr marL="0" indent="0">
              <a:buNone/>
            </a:pPr>
            <a:r>
              <a:rPr lang="en-US" sz="680" dirty="0">
                <a:solidFill>
                  <a:srgbClr val="CBD5E1"/>
                </a:solidFill>
              </a:rPr>
              <a:t>Lương</a:t>
            </a:r>
            <a:endParaRPr lang="en-US" sz="680" dirty="0"/>
          </a:p>
        </p:txBody>
      </p:sp>
      <p:sp>
        <p:nvSpPr>
          <p:cNvPr id="12" name="Shape 10"/>
          <p:cNvSpPr/>
          <p:nvPr/>
        </p:nvSpPr>
        <p:spPr>
          <a:xfrm>
            <a:off x="2011680" y="1783080"/>
            <a:ext cx="3886200" cy="320040"/>
          </a:xfrm>
          <a:prstGeom prst="rect">
            <a:avLst/>
          </a:prstGeom>
          <a:solidFill>
            <a:srgbClr val="FFFFFF"/>
          </a:solidFill>
          <a:ln w="12700">
            <a:solidFill>
              <a:srgbClr val="E2E8F0"/>
            </a:solidFill>
            <a:prstDash val="solid"/>
          </a:ln>
        </p:spPr>
      </p:sp>
      <p:sp>
        <p:nvSpPr>
          <p:cNvPr id="13" name="Shape 11"/>
          <p:cNvSpPr/>
          <p:nvPr/>
        </p:nvSpPr>
        <p:spPr>
          <a:xfrm>
            <a:off x="1965960" y="2423160"/>
            <a:ext cx="1051560" cy="685800"/>
          </a:xfrm>
          <a:prstGeom prst="roundRect">
            <a:avLst>
              <a:gd name="adj" fmla="val 9333"/>
            </a:avLst>
          </a:prstGeom>
          <a:solidFill>
            <a:srgbClr val="EFF6FF"/>
          </a:solidFill>
          <a:ln w="12700">
            <a:solidFill>
              <a:srgbClr val="E2E8F0"/>
            </a:solidFill>
            <a:prstDash val="solid"/>
          </a:ln>
          <a:effectLst>
            <a:outerShdw blurRad="12700" dist="50800" dir="2700000" algn="bl" rotWithShape="0">
              <a:srgbClr val="CBD5E1">
                <a:alpha val="13000"/>
              </a:srgbClr>
            </a:outerShdw>
          </a:effectLst>
        </p:spPr>
      </p:sp>
      <p:sp>
        <p:nvSpPr>
          <p:cNvPr id="14" name="Text 12"/>
          <p:cNvSpPr/>
          <p:nvPr/>
        </p:nvSpPr>
        <p:spPr>
          <a:xfrm>
            <a:off x="2057400" y="2670048"/>
            <a:ext cx="868680" cy="109728"/>
          </a:xfrm>
          <a:prstGeom prst="rect">
            <a:avLst/>
          </a:prstGeom>
          <a:noFill/>
          <a:ln/>
        </p:spPr>
        <p:txBody>
          <a:bodyPr wrap="square" lIns="0" tIns="0" rIns="0" bIns="0" rtlCol="0" anchor="ctr"/>
          <a:lstStyle/>
          <a:p>
            <a:pPr marL="0" indent="0" algn="ctr">
              <a:buNone/>
            </a:pPr>
            <a:r>
              <a:rPr lang="en-US" sz="760" b="1" dirty="0">
                <a:solidFill>
                  <a:srgbClr val="1E293B"/>
                </a:solidFill>
              </a:rPr>
              <a:t>25 nhân viên</a:t>
            </a:r>
            <a:endParaRPr lang="en-US" sz="760" dirty="0"/>
          </a:p>
        </p:txBody>
      </p:sp>
      <p:sp>
        <p:nvSpPr>
          <p:cNvPr id="15" name="Shape 13"/>
          <p:cNvSpPr/>
          <p:nvPr/>
        </p:nvSpPr>
        <p:spPr>
          <a:xfrm>
            <a:off x="3227832" y="2423160"/>
            <a:ext cx="1051560" cy="685800"/>
          </a:xfrm>
          <a:prstGeom prst="roundRect">
            <a:avLst>
              <a:gd name="adj" fmla="val 9333"/>
            </a:avLst>
          </a:prstGeom>
          <a:solidFill>
            <a:srgbClr val="F0FDF4"/>
          </a:solidFill>
          <a:ln w="12700">
            <a:solidFill>
              <a:srgbClr val="E2E8F0"/>
            </a:solidFill>
            <a:prstDash val="solid"/>
          </a:ln>
          <a:effectLst>
            <a:outerShdw blurRad="12700" dist="50800" dir="2700000" algn="bl" rotWithShape="0">
              <a:srgbClr val="CBD5E1">
                <a:alpha val="13000"/>
              </a:srgbClr>
            </a:outerShdw>
          </a:effectLst>
        </p:spPr>
      </p:sp>
      <p:sp>
        <p:nvSpPr>
          <p:cNvPr id="16" name="Text 14"/>
          <p:cNvSpPr/>
          <p:nvPr/>
        </p:nvSpPr>
        <p:spPr>
          <a:xfrm>
            <a:off x="3319272" y="2670048"/>
            <a:ext cx="868680" cy="109728"/>
          </a:xfrm>
          <a:prstGeom prst="rect">
            <a:avLst/>
          </a:prstGeom>
          <a:noFill/>
          <a:ln/>
        </p:spPr>
        <p:txBody>
          <a:bodyPr wrap="square" lIns="0" tIns="0" rIns="0" bIns="0" rtlCol="0" anchor="ctr"/>
          <a:lstStyle/>
          <a:p>
            <a:pPr marL="0" indent="0" algn="ctr">
              <a:buNone/>
            </a:pPr>
            <a:r>
              <a:rPr lang="en-US" sz="760" b="1" dirty="0">
                <a:solidFill>
                  <a:srgbClr val="1E293B"/>
                </a:solidFill>
              </a:rPr>
              <a:t>96% đi làm</a:t>
            </a:r>
            <a:endParaRPr lang="en-US" sz="760" dirty="0"/>
          </a:p>
        </p:txBody>
      </p:sp>
      <p:sp>
        <p:nvSpPr>
          <p:cNvPr id="17" name="Shape 15"/>
          <p:cNvSpPr/>
          <p:nvPr/>
        </p:nvSpPr>
        <p:spPr>
          <a:xfrm>
            <a:off x="4489704" y="2423160"/>
            <a:ext cx="1051560" cy="685800"/>
          </a:xfrm>
          <a:prstGeom prst="roundRect">
            <a:avLst>
              <a:gd name="adj" fmla="val 9333"/>
            </a:avLst>
          </a:prstGeom>
          <a:solidFill>
            <a:srgbClr val="F5F3FF"/>
          </a:solidFill>
          <a:ln w="12700">
            <a:solidFill>
              <a:srgbClr val="E2E8F0"/>
            </a:solidFill>
            <a:prstDash val="solid"/>
          </a:ln>
          <a:effectLst>
            <a:outerShdw blurRad="12700" dist="50800" dir="2700000" algn="bl" rotWithShape="0">
              <a:srgbClr val="CBD5E1">
                <a:alpha val="13000"/>
              </a:srgbClr>
            </a:outerShdw>
          </a:effectLst>
        </p:spPr>
      </p:sp>
      <p:sp>
        <p:nvSpPr>
          <p:cNvPr id="18" name="Text 16"/>
          <p:cNvSpPr/>
          <p:nvPr/>
        </p:nvSpPr>
        <p:spPr>
          <a:xfrm>
            <a:off x="4581144" y="2670048"/>
            <a:ext cx="868680" cy="109728"/>
          </a:xfrm>
          <a:prstGeom prst="rect">
            <a:avLst/>
          </a:prstGeom>
          <a:noFill/>
          <a:ln/>
        </p:spPr>
        <p:txBody>
          <a:bodyPr wrap="square" lIns="0" tIns="0" rIns="0" bIns="0" rtlCol="0" anchor="ctr"/>
          <a:lstStyle/>
          <a:p>
            <a:pPr marL="0" indent="0" algn="ctr">
              <a:buNone/>
            </a:pPr>
            <a:r>
              <a:rPr lang="en-US" sz="760" b="1" dirty="0">
                <a:solidFill>
                  <a:srgbClr val="1E293B"/>
                </a:solidFill>
              </a:rPr>
              <a:t>KPI 84</a:t>
            </a:r>
            <a:endParaRPr lang="en-US" sz="760" dirty="0"/>
          </a:p>
        </p:txBody>
      </p:sp>
      <p:sp>
        <p:nvSpPr>
          <p:cNvPr id="19" name="Shape 17"/>
          <p:cNvSpPr/>
          <p:nvPr/>
        </p:nvSpPr>
        <p:spPr>
          <a:xfrm>
            <a:off x="1965960" y="3429000"/>
            <a:ext cx="3611880" cy="1463040"/>
          </a:xfrm>
          <a:prstGeom prst="rect">
            <a:avLst/>
          </a:prstGeom>
          <a:solidFill>
            <a:srgbClr val="FFFFFF"/>
          </a:solidFill>
          <a:ln w="12700">
            <a:solidFill>
              <a:srgbClr val="E2E8F0"/>
            </a:solidFill>
            <a:prstDash val="solid"/>
          </a:ln>
        </p:spPr>
      </p:sp>
      <p:sp>
        <p:nvSpPr>
          <p:cNvPr id="20" name="Shape 18"/>
          <p:cNvSpPr/>
          <p:nvPr/>
        </p:nvSpPr>
        <p:spPr>
          <a:xfrm>
            <a:off x="2148840" y="4114800"/>
            <a:ext cx="292608" cy="594360"/>
          </a:xfrm>
          <a:prstGeom prst="rect">
            <a:avLst/>
          </a:prstGeom>
          <a:solidFill>
            <a:srgbClr val="1A56DB"/>
          </a:solidFill>
          <a:ln w="12700">
            <a:solidFill>
              <a:srgbClr val="333333">
                <a:alpha val="0"/>
              </a:srgbClr>
            </a:solidFill>
            <a:prstDash val="solid"/>
          </a:ln>
        </p:spPr>
      </p:sp>
      <p:sp>
        <p:nvSpPr>
          <p:cNvPr id="21" name="Shape 19"/>
          <p:cNvSpPr/>
          <p:nvPr/>
        </p:nvSpPr>
        <p:spPr>
          <a:xfrm>
            <a:off x="2752344" y="3886200"/>
            <a:ext cx="292608" cy="822960"/>
          </a:xfrm>
          <a:prstGeom prst="rect">
            <a:avLst/>
          </a:prstGeom>
          <a:solidFill>
            <a:srgbClr val="10B981"/>
          </a:solidFill>
          <a:ln w="12700">
            <a:solidFill>
              <a:srgbClr val="333333">
                <a:alpha val="0"/>
              </a:srgbClr>
            </a:solidFill>
            <a:prstDash val="solid"/>
          </a:ln>
        </p:spPr>
      </p:sp>
      <p:sp>
        <p:nvSpPr>
          <p:cNvPr id="22" name="Shape 20"/>
          <p:cNvSpPr/>
          <p:nvPr/>
        </p:nvSpPr>
        <p:spPr>
          <a:xfrm>
            <a:off x="3355848" y="4251960"/>
            <a:ext cx="292608" cy="457200"/>
          </a:xfrm>
          <a:prstGeom prst="rect">
            <a:avLst/>
          </a:prstGeom>
          <a:solidFill>
            <a:srgbClr val="F59E0B"/>
          </a:solidFill>
          <a:ln w="12700">
            <a:solidFill>
              <a:srgbClr val="333333">
                <a:alpha val="0"/>
              </a:srgbClr>
            </a:solidFill>
            <a:prstDash val="solid"/>
          </a:ln>
        </p:spPr>
      </p:sp>
      <p:sp>
        <p:nvSpPr>
          <p:cNvPr id="23" name="Shape 21"/>
          <p:cNvSpPr/>
          <p:nvPr/>
        </p:nvSpPr>
        <p:spPr>
          <a:xfrm>
            <a:off x="3959352" y="4023360"/>
            <a:ext cx="292608" cy="685800"/>
          </a:xfrm>
          <a:prstGeom prst="rect">
            <a:avLst/>
          </a:prstGeom>
          <a:solidFill>
            <a:srgbClr val="8B5CF6"/>
          </a:solidFill>
          <a:ln w="12700">
            <a:solidFill>
              <a:srgbClr val="333333">
                <a:alpha val="0"/>
              </a:srgbClr>
            </a:solidFill>
            <a:prstDash val="solid"/>
          </a:ln>
        </p:spPr>
      </p:sp>
      <p:sp>
        <p:nvSpPr>
          <p:cNvPr id="24" name="Shape 22"/>
          <p:cNvSpPr/>
          <p:nvPr/>
        </p:nvSpPr>
        <p:spPr>
          <a:xfrm>
            <a:off x="4562856" y="4325112"/>
            <a:ext cx="292608" cy="384048"/>
          </a:xfrm>
          <a:prstGeom prst="rect">
            <a:avLst/>
          </a:prstGeom>
          <a:solidFill>
            <a:srgbClr val="EF4444"/>
          </a:solidFill>
          <a:ln w="12700">
            <a:solidFill>
              <a:srgbClr val="333333">
                <a:alpha val="0"/>
              </a:srgbClr>
            </a:solidFill>
            <a:prstDash val="solid"/>
          </a:ln>
        </p:spPr>
      </p:sp>
      <p:sp>
        <p:nvSpPr>
          <p:cNvPr id="25" name="Text 23"/>
          <p:cNvSpPr/>
          <p:nvPr/>
        </p:nvSpPr>
        <p:spPr>
          <a:xfrm>
            <a:off x="2286000" y="5148072"/>
            <a:ext cx="2834640" cy="137160"/>
          </a:xfrm>
          <a:prstGeom prst="rect">
            <a:avLst/>
          </a:prstGeom>
          <a:noFill/>
          <a:ln/>
        </p:spPr>
        <p:txBody>
          <a:bodyPr wrap="square" lIns="0" tIns="0" rIns="0" bIns="0" rtlCol="0" anchor="ctr"/>
          <a:lstStyle/>
          <a:p>
            <a:pPr marL="0" indent="0" algn="ctr">
              <a:buNone/>
            </a:pPr>
            <a:r>
              <a:rPr lang="en-US" sz="850" dirty="0">
                <a:solidFill>
                  <a:srgbClr val="64748B"/>
                </a:solidFill>
              </a:rPr>
              <a:t>Dashboard/cards/tables/modal</a:t>
            </a:r>
            <a:endParaRPr lang="en-US" sz="850" dirty="0"/>
          </a:p>
        </p:txBody>
      </p:sp>
      <p:sp>
        <p:nvSpPr>
          <p:cNvPr id="26" name="Shape 24"/>
          <p:cNvSpPr/>
          <p:nvPr/>
        </p:nvSpPr>
        <p:spPr>
          <a:xfrm>
            <a:off x="6812280" y="1691640"/>
            <a:ext cx="4343400" cy="3794760"/>
          </a:xfrm>
          <a:prstGeom prst="roundRect">
            <a:avLst>
              <a:gd name="adj" fmla="val 1687"/>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27" name="Text 25"/>
          <p:cNvSpPr/>
          <p:nvPr/>
        </p:nvSpPr>
        <p:spPr>
          <a:xfrm>
            <a:off x="7132320" y="2057400"/>
            <a:ext cx="3291840" cy="228600"/>
          </a:xfrm>
          <a:prstGeom prst="rect">
            <a:avLst/>
          </a:prstGeom>
          <a:noFill/>
          <a:ln/>
        </p:spPr>
        <p:txBody>
          <a:bodyPr wrap="square" lIns="0" tIns="0" rIns="0" bIns="0" rtlCol="0" anchor="ctr"/>
          <a:lstStyle/>
          <a:p>
            <a:pPr marL="0" indent="0">
              <a:buNone/>
            </a:pPr>
            <a:r>
              <a:rPr lang="en-US" sz="1600" b="1" dirty="0">
                <a:solidFill>
                  <a:srgbClr val="0F172A"/>
                </a:solidFill>
              </a:rPr>
              <a:t>CSS được chuẩn hóa theo utility</a:t>
            </a:r>
            <a:endParaRPr lang="en-US" sz="1600" dirty="0"/>
          </a:p>
        </p:txBody>
      </p:sp>
      <p:sp>
        <p:nvSpPr>
          <p:cNvPr id="28" name="Text 26"/>
          <p:cNvSpPr/>
          <p:nvPr/>
        </p:nvSpPr>
        <p:spPr>
          <a:xfrm>
            <a:off x="7178040" y="2578608"/>
            <a:ext cx="3337560" cy="310896"/>
          </a:xfrm>
          <a:prstGeom prst="rect">
            <a:avLst/>
          </a:prstGeom>
          <a:noFill/>
          <a:ln/>
        </p:spPr>
        <p:txBody>
          <a:bodyPr wrap="square" lIns="0" tIns="0" rIns="0" bIns="0" rtlCol="0" anchor="ctr">
            <a:normAutofit/>
          </a:bodyPr>
          <a:lstStyle/>
          <a:p>
            <a:r>
              <a:rPr lang="en-US" sz="1150" dirty="0">
                <a:solidFill>
                  <a:srgbClr val="1E293B"/>
                </a:solidFill>
                <a:latin typeface="Arial" pitchFamily="34" charset="0"/>
                <a:ea typeface="Arial" pitchFamily="34" charset="-122"/>
                <a:cs typeface="Arial" pitchFamily="34" charset="-120"/>
              </a:rPr>
              <a:t>Biến màu và spacing trong :root</a:t>
            </a:r>
            <a:endParaRPr lang="en-US" sz="1150" dirty="0"/>
          </a:p>
        </p:txBody>
      </p:sp>
      <p:sp>
        <p:nvSpPr>
          <p:cNvPr id="29" name="Text 27"/>
          <p:cNvSpPr/>
          <p:nvPr/>
        </p:nvSpPr>
        <p:spPr>
          <a:xfrm>
            <a:off x="7178040" y="3081528"/>
            <a:ext cx="3337560" cy="310896"/>
          </a:xfrm>
          <a:prstGeom prst="rect">
            <a:avLst/>
          </a:prstGeom>
          <a:noFill/>
          <a:ln/>
        </p:spPr>
        <p:txBody>
          <a:bodyPr wrap="square" lIns="0" tIns="0" rIns="0" bIns="0" rtlCol="0" anchor="ctr">
            <a:normAutofit/>
          </a:bodyPr>
          <a:lstStyle/>
          <a:p>
            <a:r>
              <a:rPr lang="en-US" sz="1150" dirty="0">
                <a:solidFill>
                  <a:srgbClr val="1E293B"/>
                </a:solidFill>
                <a:latin typeface="Arial" pitchFamily="34" charset="0"/>
                <a:ea typeface="Arial" pitchFamily="34" charset="-122"/>
                <a:cs typeface="Arial" pitchFamily="34" charset="-120"/>
              </a:rPr>
              <a:t>Class dùng lại: btn, card, badge, grid, modal</a:t>
            </a:r>
            <a:endParaRPr lang="en-US" sz="1150" dirty="0"/>
          </a:p>
        </p:txBody>
      </p:sp>
      <p:sp>
        <p:nvSpPr>
          <p:cNvPr id="30" name="Text 28"/>
          <p:cNvSpPr/>
          <p:nvPr/>
        </p:nvSpPr>
        <p:spPr>
          <a:xfrm>
            <a:off x="7178040" y="3584448"/>
            <a:ext cx="3337560" cy="310896"/>
          </a:xfrm>
          <a:prstGeom prst="rect">
            <a:avLst/>
          </a:prstGeom>
          <a:noFill/>
          <a:ln/>
        </p:spPr>
        <p:txBody>
          <a:bodyPr wrap="square" lIns="0" tIns="0" rIns="0" bIns="0" rtlCol="0" anchor="ctr">
            <a:normAutofit/>
          </a:bodyPr>
          <a:lstStyle/>
          <a:p>
            <a:r>
              <a:rPr lang="en-US" sz="1150" dirty="0">
                <a:solidFill>
                  <a:srgbClr val="1E293B"/>
                </a:solidFill>
                <a:latin typeface="Arial" pitchFamily="34" charset="0"/>
                <a:ea typeface="Arial" pitchFamily="34" charset="-122"/>
                <a:cs typeface="Arial" pitchFamily="34" charset="-120"/>
              </a:rPr>
              <a:t>Responsive cho bảng, sidebar và form</a:t>
            </a:r>
            <a:endParaRPr lang="en-US" sz="1150" dirty="0"/>
          </a:p>
        </p:txBody>
      </p:sp>
      <p:sp>
        <p:nvSpPr>
          <p:cNvPr id="31" name="Text 29"/>
          <p:cNvSpPr/>
          <p:nvPr/>
        </p:nvSpPr>
        <p:spPr>
          <a:xfrm>
            <a:off x="7178040" y="4087368"/>
            <a:ext cx="3337560" cy="310896"/>
          </a:xfrm>
          <a:prstGeom prst="rect">
            <a:avLst/>
          </a:prstGeom>
          <a:noFill/>
          <a:ln/>
        </p:spPr>
        <p:txBody>
          <a:bodyPr wrap="square" lIns="0" tIns="0" rIns="0" bIns="0" rtlCol="0" anchor="ctr">
            <a:normAutofit/>
          </a:bodyPr>
          <a:lstStyle/>
          <a:p>
            <a:r>
              <a:rPr lang="en-US" sz="1150" dirty="0">
                <a:solidFill>
                  <a:srgbClr val="1E293B"/>
                </a:solidFill>
                <a:latin typeface="Arial" pitchFamily="34" charset="0"/>
                <a:ea typeface="Arial" pitchFamily="34" charset="-122"/>
                <a:cs typeface="Arial" pitchFamily="34" charset="-120"/>
              </a:rPr>
              <a:t>Tinh thần Bootstrap/Tailwind: dễ tái sử dụng, ít CSS lặp</a:t>
            </a:r>
            <a:endParaRPr lang="en-US" sz="1150" dirty="0"/>
          </a:p>
        </p:txBody>
      </p:sp>
      <p:sp>
        <p:nvSpPr>
          <p:cNvPr id="32" name="Shape 30"/>
          <p:cNvSpPr/>
          <p:nvPr/>
        </p:nvSpPr>
        <p:spPr>
          <a:xfrm>
            <a:off x="7178040" y="4828032"/>
            <a:ext cx="3337560" cy="320040"/>
          </a:xfrm>
          <a:prstGeom prst="roundRect">
            <a:avLst>
              <a:gd name="adj" fmla="val 14286"/>
            </a:avLst>
          </a:prstGeom>
          <a:solidFill>
            <a:srgbClr val="EFF6FF"/>
          </a:solidFill>
          <a:ln w="12700">
            <a:solidFill>
              <a:srgbClr val="BFDBFE"/>
            </a:solidFill>
            <a:prstDash val="solid"/>
          </a:ln>
        </p:spPr>
      </p:sp>
      <p:sp>
        <p:nvSpPr>
          <p:cNvPr id="33" name="Text 31"/>
          <p:cNvSpPr/>
          <p:nvPr/>
        </p:nvSpPr>
        <p:spPr>
          <a:xfrm>
            <a:off x="7406640" y="4946904"/>
            <a:ext cx="2880360" cy="82296"/>
          </a:xfrm>
          <a:prstGeom prst="rect">
            <a:avLst/>
          </a:prstGeom>
          <a:noFill/>
          <a:ln/>
        </p:spPr>
        <p:txBody>
          <a:bodyPr wrap="square" lIns="0" tIns="0" rIns="0" bIns="0" rtlCol="0" anchor="ctr">
            <a:normAutofit/>
          </a:bodyPr>
          <a:lstStyle/>
          <a:p>
            <a:pPr marL="0" indent="0">
              <a:buNone/>
            </a:pPr>
            <a:r>
              <a:rPr lang="en-US" sz="880" b="1" dirty="0">
                <a:solidFill>
                  <a:srgbClr val="1A56DB"/>
                </a:solidFill>
              </a:rPr>
              <a:t>Không thêm CDN phụ thuộc, phù hợp nộp source tĩnh.</a:t>
            </a:r>
            <a:endParaRPr lang="en-US" sz="880" dirty="0"/>
          </a:p>
        </p:txBody>
      </p:sp>
      <p:sp>
        <p:nvSpPr>
          <p:cNvPr id="34"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09 · VALIDATION</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Kiểm thử và kết quả đạt được</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Kiểm thử tập trung vào luồng giao diện, dữ liệu localStorage, phân quyền và kết quả nghiệp vụ.</a:t>
            </a:r>
            <a:endParaRPr lang="en-US" sz="1350" dirty="0"/>
          </a:p>
        </p:txBody>
      </p:sp>
      <p:sp>
        <p:nvSpPr>
          <p:cNvPr id="5" name="Shape 3"/>
          <p:cNvSpPr/>
          <p:nvPr/>
        </p:nvSpPr>
        <p:spPr>
          <a:xfrm>
            <a:off x="868680" y="1691640"/>
            <a:ext cx="4526280" cy="457200"/>
          </a:xfrm>
          <a:prstGeom prst="roundRect">
            <a:avLst>
              <a:gd name="adj" fmla="val 10000"/>
            </a:avLst>
          </a:prstGeom>
          <a:solidFill>
            <a:srgbClr val="FFFFFF"/>
          </a:solidFill>
          <a:ln w="12700">
            <a:solidFill>
              <a:srgbClr val="E2E8F0"/>
            </a:solidFill>
            <a:prstDash val="solid"/>
          </a:ln>
        </p:spPr>
      </p:sp>
      <p:sp>
        <p:nvSpPr>
          <p:cNvPr id="6" name="Text 4"/>
          <p:cNvSpPr/>
          <p:nvPr/>
        </p:nvSpPr>
        <p:spPr>
          <a:xfrm>
            <a:off x="1051560" y="1819656"/>
            <a:ext cx="182880" cy="91440"/>
          </a:xfrm>
          <a:prstGeom prst="rect">
            <a:avLst/>
          </a:prstGeom>
          <a:noFill/>
          <a:ln/>
        </p:spPr>
        <p:txBody>
          <a:bodyPr wrap="square" lIns="0" tIns="0" rIns="0" bIns="0" rtlCol="0" anchor="ctr"/>
          <a:lstStyle/>
          <a:p>
            <a:pPr marL="0" indent="0">
              <a:buNone/>
            </a:pPr>
            <a:r>
              <a:rPr lang="en-US" sz="1400" b="1" dirty="0">
                <a:solidFill>
                  <a:srgbClr val="10B981"/>
                </a:solidFill>
              </a:rPr>
              <a:t>✓</a:t>
            </a:r>
            <a:endParaRPr lang="en-US" sz="1400" dirty="0"/>
          </a:p>
        </p:txBody>
      </p:sp>
      <p:sp>
        <p:nvSpPr>
          <p:cNvPr id="7" name="Text 5"/>
          <p:cNvSpPr/>
          <p:nvPr/>
        </p:nvSpPr>
        <p:spPr>
          <a:xfrm>
            <a:off x="1417320" y="1801368"/>
            <a:ext cx="1920240" cy="118872"/>
          </a:xfrm>
          <a:prstGeom prst="rect">
            <a:avLst/>
          </a:prstGeom>
          <a:noFill/>
          <a:ln/>
        </p:spPr>
        <p:txBody>
          <a:bodyPr wrap="square" lIns="0" tIns="0" rIns="0" bIns="0" rtlCol="0" anchor="ctr">
            <a:normAutofit/>
          </a:bodyPr>
          <a:lstStyle/>
          <a:p>
            <a:pPr marL="0" indent="0">
              <a:buNone/>
            </a:pPr>
            <a:r>
              <a:rPr lang="en-US" sz="1120" b="1" dirty="0">
                <a:solidFill>
                  <a:srgbClr val="1E293B"/>
                </a:solidFill>
              </a:rPr>
              <a:t>Đăng nhập / phân quyền</a:t>
            </a:r>
            <a:endParaRPr lang="en-US" sz="1120" dirty="0"/>
          </a:p>
        </p:txBody>
      </p:sp>
      <p:sp>
        <p:nvSpPr>
          <p:cNvPr id="8" name="Text 6"/>
          <p:cNvSpPr/>
          <p:nvPr/>
        </p:nvSpPr>
        <p:spPr>
          <a:xfrm>
            <a:off x="3566160" y="1801368"/>
            <a:ext cx="1554480" cy="118872"/>
          </a:xfrm>
          <a:prstGeom prst="rect">
            <a:avLst/>
          </a:prstGeom>
          <a:noFill/>
          <a:ln/>
        </p:spPr>
        <p:txBody>
          <a:bodyPr wrap="square" lIns="0" tIns="0" rIns="0" bIns="0" rtlCol="0" anchor="ctr">
            <a:normAutofit/>
          </a:bodyPr>
          <a:lstStyle/>
          <a:p>
            <a:pPr marL="0" indent="0">
              <a:buNone/>
            </a:pPr>
            <a:r>
              <a:rPr lang="en-US" sz="950" dirty="0">
                <a:solidFill>
                  <a:srgbClr val="64748B"/>
                </a:solidFill>
              </a:rPr>
              <a:t>Admin, HR, Kế toán, Quản lý, Nhân viên</a:t>
            </a:r>
            <a:endParaRPr lang="en-US" sz="950" dirty="0"/>
          </a:p>
        </p:txBody>
      </p:sp>
      <p:sp>
        <p:nvSpPr>
          <p:cNvPr id="9" name="Shape 7"/>
          <p:cNvSpPr/>
          <p:nvPr/>
        </p:nvSpPr>
        <p:spPr>
          <a:xfrm>
            <a:off x="868680" y="2377440"/>
            <a:ext cx="4526280" cy="457200"/>
          </a:xfrm>
          <a:prstGeom prst="roundRect">
            <a:avLst>
              <a:gd name="adj" fmla="val 10000"/>
            </a:avLst>
          </a:prstGeom>
          <a:solidFill>
            <a:srgbClr val="EFF6FF"/>
          </a:solidFill>
          <a:ln w="12700">
            <a:solidFill>
              <a:srgbClr val="E2E8F0"/>
            </a:solidFill>
            <a:prstDash val="solid"/>
          </a:ln>
        </p:spPr>
      </p:sp>
      <p:sp>
        <p:nvSpPr>
          <p:cNvPr id="10" name="Text 8"/>
          <p:cNvSpPr/>
          <p:nvPr/>
        </p:nvSpPr>
        <p:spPr>
          <a:xfrm>
            <a:off x="1051560" y="2505456"/>
            <a:ext cx="182880" cy="91440"/>
          </a:xfrm>
          <a:prstGeom prst="rect">
            <a:avLst/>
          </a:prstGeom>
          <a:noFill/>
          <a:ln/>
        </p:spPr>
        <p:txBody>
          <a:bodyPr wrap="square" lIns="0" tIns="0" rIns="0" bIns="0" rtlCol="0" anchor="ctr"/>
          <a:lstStyle/>
          <a:p>
            <a:pPr marL="0" indent="0">
              <a:buNone/>
            </a:pPr>
            <a:r>
              <a:rPr lang="en-US" sz="1400" b="1" dirty="0">
                <a:solidFill>
                  <a:srgbClr val="10B981"/>
                </a:solidFill>
              </a:rPr>
              <a:t>✓</a:t>
            </a:r>
            <a:endParaRPr lang="en-US" sz="1400" dirty="0"/>
          </a:p>
        </p:txBody>
      </p:sp>
      <p:sp>
        <p:nvSpPr>
          <p:cNvPr id="11" name="Text 9"/>
          <p:cNvSpPr/>
          <p:nvPr/>
        </p:nvSpPr>
        <p:spPr>
          <a:xfrm>
            <a:off x="1417320" y="2487168"/>
            <a:ext cx="1920240" cy="118872"/>
          </a:xfrm>
          <a:prstGeom prst="rect">
            <a:avLst/>
          </a:prstGeom>
          <a:noFill/>
          <a:ln/>
        </p:spPr>
        <p:txBody>
          <a:bodyPr wrap="square" lIns="0" tIns="0" rIns="0" bIns="0" rtlCol="0" anchor="ctr">
            <a:normAutofit/>
          </a:bodyPr>
          <a:lstStyle/>
          <a:p>
            <a:pPr marL="0" indent="0">
              <a:buNone/>
            </a:pPr>
            <a:r>
              <a:rPr lang="en-US" sz="1120" b="1" dirty="0">
                <a:solidFill>
                  <a:srgbClr val="1E293B"/>
                </a:solidFill>
              </a:rPr>
              <a:t>CRUD nhân viên / phòng ban / ca</a:t>
            </a:r>
            <a:endParaRPr lang="en-US" sz="1120" dirty="0"/>
          </a:p>
        </p:txBody>
      </p:sp>
      <p:sp>
        <p:nvSpPr>
          <p:cNvPr id="12" name="Text 10"/>
          <p:cNvSpPr/>
          <p:nvPr/>
        </p:nvSpPr>
        <p:spPr>
          <a:xfrm>
            <a:off x="3566160" y="2487168"/>
            <a:ext cx="1554480" cy="118872"/>
          </a:xfrm>
          <a:prstGeom prst="rect">
            <a:avLst/>
          </a:prstGeom>
          <a:noFill/>
          <a:ln/>
        </p:spPr>
        <p:txBody>
          <a:bodyPr wrap="square" lIns="0" tIns="0" rIns="0" bIns="0" rtlCol="0" anchor="ctr">
            <a:normAutofit/>
          </a:bodyPr>
          <a:lstStyle/>
          <a:p>
            <a:pPr marL="0" indent="0">
              <a:buNone/>
            </a:pPr>
            <a:r>
              <a:rPr lang="en-US" sz="950" dirty="0">
                <a:solidFill>
                  <a:srgbClr val="64748B"/>
                </a:solidFill>
              </a:rPr>
              <a:t>Thêm, sửa, xóa, lọc, tìm kiếm</a:t>
            </a:r>
            <a:endParaRPr lang="en-US" sz="950" dirty="0"/>
          </a:p>
        </p:txBody>
      </p:sp>
      <p:sp>
        <p:nvSpPr>
          <p:cNvPr id="13" name="Shape 11"/>
          <p:cNvSpPr/>
          <p:nvPr/>
        </p:nvSpPr>
        <p:spPr>
          <a:xfrm>
            <a:off x="868680" y="3063240"/>
            <a:ext cx="4526280" cy="457200"/>
          </a:xfrm>
          <a:prstGeom prst="roundRect">
            <a:avLst>
              <a:gd name="adj" fmla="val 10000"/>
            </a:avLst>
          </a:prstGeom>
          <a:solidFill>
            <a:srgbClr val="FFFFFF"/>
          </a:solidFill>
          <a:ln w="12700">
            <a:solidFill>
              <a:srgbClr val="E2E8F0"/>
            </a:solidFill>
            <a:prstDash val="solid"/>
          </a:ln>
        </p:spPr>
      </p:sp>
      <p:sp>
        <p:nvSpPr>
          <p:cNvPr id="14" name="Text 12"/>
          <p:cNvSpPr/>
          <p:nvPr/>
        </p:nvSpPr>
        <p:spPr>
          <a:xfrm>
            <a:off x="1051560" y="3191256"/>
            <a:ext cx="182880" cy="91440"/>
          </a:xfrm>
          <a:prstGeom prst="rect">
            <a:avLst/>
          </a:prstGeom>
          <a:noFill/>
          <a:ln/>
        </p:spPr>
        <p:txBody>
          <a:bodyPr wrap="square" lIns="0" tIns="0" rIns="0" bIns="0" rtlCol="0" anchor="ctr"/>
          <a:lstStyle/>
          <a:p>
            <a:pPr marL="0" indent="0">
              <a:buNone/>
            </a:pPr>
            <a:r>
              <a:rPr lang="en-US" sz="1400" b="1" dirty="0">
                <a:solidFill>
                  <a:srgbClr val="10B981"/>
                </a:solidFill>
              </a:rPr>
              <a:t>✓</a:t>
            </a:r>
            <a:endParaRPr lang="en-US" sz="1400" dirty="0"/>
          </a:p>
        </p:txBody>
      </p:sp>
      <p:sp>
        <p:nvSpPr>
          <p:cNvPr id="15" name="Text 13"/>
          <p:cNvSpPr/>
          <p:nvPr/>
        </p:nvSpPr>
        <p:spPr>
          <a:xfrm>
            <a:off x="1417320" y="3172968"/>
            <a:ext cx="1920240" cy="118872"/>
          </a:xfrm>
          <a:prstGeom prst="rect">
            <a:avLst/>
          </a:prstGeom>
          <a:noFill/>
          <a:ln/>
        </p:spPr>
        <p:txBody>
          <a:bodyPr wrap="square" lIns="0" tIns="0" rIns="0" bIns="0" rtlCol="0" anchor="ctr">
            <a:normAutofit/>
          </a:bodyPr>
          <a:lstStyle/>
          <a:p>
            <a:pPr marL="0" indent="0">
              <a:buNone/>
            </a:pPr>
            <a:r>
              <a:rPr lang="en-US" sz="1120" b="1" dirty="0">
                <a:solidFill>
                  <a:srgbClr val="1E293B"/>
                </a:solidFill>
              </a:rPr>
              <a:t>Multi-select ca</a:t>
            </a:r>
            <a:endParaRPr lang="en-US" sz="1120" dirty="0"/>
          </a:p>
        </p:txBody>
      </p:sp>
      <p:sp>
        <p:nvSpPr>
          <p:cNvPr id="16" name="Text 14"/>
          <p:cNvSpPr/>
          <p:nvPr/>
        </p:nvSpPr>
        <p:spPr>
          <a:xfrm>
            <a:off x="3566160" y="3172968"/>
            <a:ext cx="1554480" cy="118872"/>
          </a:xfrm>
          <a:prstGeom prst="rect">
            <a:avLst/>
          </a:prstGeom>
          <a:noFill/>
          <a:ln/>
        </p:spPr>
        <p:txBody>
          <a:bodyPr wrap="square" lIns="0" tIns="0" rIns="0" bIns="0" rtlCol="0" anchor="ctr">
            <a:normAutofit/>
          </a:bodyPr>
          <a:lstStyle/>
          <a:p>
            <a:pPr marL="0" indent="0">
              <a:buNone/>
            </a:pPr>
            <a:r>
              <a:rPr lang="en-US" sz="950" dirty="0">
                <a:solidFill>
                  <a:srgbClr val="64748B"/>
                </a:solidFill>
              </a:rPr>
              <a:t>Một nhân viên được gán nhiều ca</a:t>
            </a:r>
            <a:endParaRPr lang="en-US" sz="950" dirty="0"/>
          </a:p>
        </p:txBody>
      </p:sp>
      <p:sp>
        <p:nvSpPr>
          <p:cNvPr id="17" name="Shape 15"/>
          <p:cNvSpPr/>
          <p:nvPr/>
        </p:nvSpPr>
        <p:spPr>
          <a:xfrm>
            <a:off x="868680" y="3749040"/>
            <a:ext cx="4526280" cy="457200"/>
          </a:xfrm>
          <a:prstGeom prst="roundRect">
            <a:avLst>
              <a:gd name="adj" fmla="val 10000"/>
            </a:avLst>
          </a:prstGeom>
          <a:solidFill>
            <a:srgbClr val="EFF6FF"/>
          </a:solidFill>
          <a:ln w="12700">
            <a:solidFill>
              <a:srgbClr val="E2E8F0"/>
            </a:solidFill>
            <a:prstDash val="solid"/>
          </a:ln>
        </p:spPr>
      </p:sp>
      <p:sp>
        <p:nvSpPr>
          <p:cNvPr id="18" name="Text 16"/>
          <p:cNvSpPr/>
          <p:nvPr/>
        </p:nvSpPr>
        <p:spPr>
          <a:xfrm>
            <a:off x="1051560" y="3877056"/>
            <a:ext cx="182880" cy="91440"/>
          </a:xfrm>
          <a:prstGeom prst="rect">
            <a:avLst/>
          </a:prstGeom>
          <a:noFill/>
          <a:ln/>
        </p:spPr>
        <p:txBody>
          <a:bodyPr wrap="square" lIns="0" tIns="0" rIns="0" bIns="0" rtlCol="0" anchor="ctr"/>
          <a:lstStyle/>
          <a:p>
            <a:pPr marL="0" indent="0">
              <a:buNone/>
            </a:pPr>
            <a:r>
              <a:rPr lang="en-US" sz="1400" b="1" dirty="0">
                <a:solidFill>
                  <a:srgbClr val="10B981"/>
                </a:solidFill>
              </a:rPr>
              <a:t>✓</a:t>
            </a:r>
            <a:endParaRPr lang="en-US" sz="1400" dirty="0"/>
          </a:p>
        </p:txBody>
      </p:sp>
      <p:sp>
        <p:nvSpPr>
          <p:cNvPr id="19" name="Text 17"/>
          <p:cNvSpPr/>
          <p:nvPr/>
        </p:nvSpPr>
        <p:spPr>
          <a:xfrm>
            <a:off x="1417320" y="3858768"/>
            <a:ext cx="1920240" cy="118872"/>
          </a:xfrm>
          <a:prstGeom prst="rect">
            <a:avLst/>
          </a:prstGeom>
          <a:noFill/>
          <a:ln/>
        </p:spPr>
        <p:txBody>
          <a:bodyPr wrap="square" lIns="0" tIns="0" rIns="0" bIns="0" rtlCol="0" anchor="ctr">
            <a:normAutofit/>
          </a:bodyPr>
          <a:lstStyle/>
          <a:p>
            <a:pPr marL="0" indent="0">
              <a:buNone/>
            </a:pPr>
            <a:r>
              <a:rPr lang="en-US" sz="1120" b="1" dirty="0">
                <a:solidFill>
                  <a:srgbClr val="1E293B"/>
                </a:solidFill>
              </a:rPr>
              <a:t>Chấm công chi tiết</a:t>
            </a:r>
            <a:endParaRPr lang="en-US" sz="1120" dirty="0"/>
          </a:p>
        </p:txBody>
      </p:sp>
      <p:sp>
        <p:nvSpPr>
          <p:cNvPr id="20" name="Text 18"/>
          <p:cNvSpPr/>
          <p:nvPr/>
        </p:nvSpPr>
        <p:spPr>
          <a:xfrm>
            <a:off x="3566160" y="3858768"/>
            <a:ext cx="1554480" cy="118872"/>
          </a:xfrm>
          <a:prstGeom prst="rect">
            <a:avLst/>
          </a:prstGeom>
          <a:noFill/>
          <a:ln/>
        </p:spPr>
        <p:txBody>
          <a:bodyPr wrap="square" lIns="0" tIns="0" rIns="0" bIns="0" rtlCol="0" anchor="ctr">
            <a:normAutofit/>
          </a:bodyPr>
          <a:lstStyle/>
          <a:p>
            <a:pPr marL="0" indent="0">
              <a:buNone/>
            </a:pPr>
            <a:r>
              <a:rPr lang="en-US" sz="950" dirty="0">
                <a:solidFill>
                  <a:srgbClr val="64748B"/>
                </a:solidFill>
              </a:rPr>
              <a:t>Đúng giờ, muộn, về sớm, vắng, nghỉ phép</a:t>
            </a:r>
            <a:endParaRPr lang="en-US" sz="950" dirty="0"/>
          </a:p>
        </p:txBody>
      </p:sp>
      <p:sp>
        <p:nvSpPr>
          <p:cNvPr id="21" name="Shape 19"/>
          <p:cNvSpPr/>
          <p:nvPr/>
        </p:nvSpPr>
        <p:spPr>
          <a:xfrm>
            <a:off x="868680" y="4434840"/>
            <a:ext cx="4526280" cy="457200"/>
          </a:xfrm>
          <a:prstGeom prst="roundRect">
            <a:avLst>
              <a:gd name="adj" fmla="val 10000"/>
            </a:avLst>
          </a:prstGeom>
          <a:solidFill>
            <a:srgbClr val="FFFFFF"/>
          </a:solidFill>
          <a:ln w="12700">
            <a:solidFill>
              <a:srgbClr val="E2E8F0"/>
            </a:solidFill>
            <a:prstDash val="solid"/>
          </a:ln>
        </p:spPr>
      </p:sp>
      <p:sp>
        <p:nvSpPr>
          <p:cNvPr id="22" name="Text 20"/>
          <p:cNvSpPr/>
          <p:nvPr/>
        </p:nvSpPr>
        <p:spPr>
          <a:xfrm>
            <a:off x="1051560" y="4562856"/>
            <a:ext cx="182880" cy="91440"/>
          </a:xfrm>
          <a:prstGeom prst="rect">
            <a:avLst/>
          </a:prstGeom>
          <a:noFill/>
          <a:ln/>
        </p:spPr>
        <p:txBody>
          <a:bodyPr wrap="square" lIns="0" tIns="0" rIns="0" bIns="0" rtlCol="0" anchor="ctr"/>
          <a:lstStyle/>
          <a:p>
            <a:pPr marL="0" indent="0">
              <a:buNone/>
            </a:pPr>
            <a:r>
              <a:rPr lang="en-US" sz="1400" b="1" dirty="0">
                <a:solidFill>
                  <a:srgbClr val="10B981"/>
                </a:solidFill>
              </a:rPr>
              <a:t>✓</a:t>
            </a:r>
            <a:endParaRPr lang="en-US" sz="1400" dirty="0"/>
          </a:p>
        </p:txBody>
      </p:sp>
      <p:sp>
        <p:nvSpPr>
          <p:cNvPr id="23" name="Text 21"/>
          <p:cNvSpPr/>
          <p:nvPr/>
        </p:nvSpPr>
        <p:spPr>
          <a:xfrm>
            <a:off x="1417320" y="4544568"/>
            <a:ext cx="1920240" cy="118872"/>
          </a:xfrm>
          <a:prstGeom prst="rect">
            <a:avLst/>
          </a:prstGeom>
          <a:noFill/>
          <a:ln/>
        </p:spPr>
        <p:txBody>
          <a:bodyPr wrap="square" lIns="0" tIns="0" rIns="0" bIns="0" rtlCol="0" anchor="ctr">
            <a:normAutofit/>
          </a:bodyPr>
          <a:lstStyle/>
          <a:p>
            <a:pPr marL="0" indent="0">
              <a:buNone/>
            </a:pPr>
            <a:r>
              <a:rPr lang="en-US" sz="1120" b="1" dirty="0">
                <a:solidFill>
                  <a:srgbClr val="1E293B"/>
                </a:solidFill>
              </a:rPr>
              <a:t>Tính lương / KPI / CSV</a:t>
            </a:r>
            <a:endParaRPr lang="en-US" sz="1120" dirty="0"/>
          </a:p>
        </p:txBody>
      </p:sp>
      <p:sp>
        <p:nvSpPr>
          <p:cNvPr id="24" name="Text 22"/>
          <p:cNvSpPr/>
          <p:nvPr/>
        </p:nvSpPr>
        <p:spPr>
          <a:xfrm>
            <a:off x="3566160" y="4544568"/>
            <a:ext cx="1554480" cy="118872"/>
          </a:xfrm>
          <a:prstGeom prst="rect">
            <a:avLst/>
          </a:prstGeom>
          <a:noFill/>
          <a:ln/>
        </p:spPr>
        <p:txBody>
          <a:bodyPr wrap="square" lIns="0" tIns="0" rIns="0" bIns="0" rtlCol="0" anchor="ctr">
            <a:normAutofit/>
          </a:bodyPr>
          <a:lstStyle/>
          <a:p>
            <a:pPr marL="0" indent="0">
              <a:buNone/>
            </a:pPr>
            <a:r>
              <a:rPr lang="en-US" sz="950" dirty="0">
                <a:solidFill>
                  <a:srgbClr val="64748B"/>
                </a:solidFill>
              </a:rPr>
              <a:t>Tính toán và xuất dữ liệu</a:t>
            </a:r>
            <a:endParaRPr lang="en-US" sz="950" dirty="0"/>
          </a:p>
        </p:txBody>
      </p:sp>
      <p:sp>
        <p:nvSpPr>
          <p:cNvPr id="25" name="Shape 23"/>
          <p:cNvSpPr/>
          <p:nvPr/>
        </p:nvSpPr>
        <p:spPr>
          <a:xfrm>
            <a:off x="5989320" y="1600200"/>
            <a:ext cx="4983480" cy="3794760"/>
          </a:xfrm>
          <a:prstGeom prst="roundRect">
            <a:avLst>
              <a:gd name="adj" fmla="val 1687"/>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26" name="Text 24"/>
          <p:cNvSpPr/>
          <p:nvPr/>
        </p:nvSpPr>
        <p:spPr>
          <a:xfrm>
            <a:off x="6355080" y="1901952"/>
            <a:ext cx="1828800" cy="228600"/>
          </a:xfrm>
          <a:prstGeom prst="rect">
            <a:avLst/>
          </a:prstGeom>
          <a:noFill/>
          <a:ln/>
        </p:spPr>
        <p:txBody>
          <a:bodyPr wrap="square" lIns="0" tIns="0" rIns="0" bIns="0" rtlCol="0" anchor="ctr"/>
          <a:lstStyle/>
          <a:p>
            <a:pPr marL="0" indent="0">
              <a:buNone/>
            </a:pPr>
            <a:r>
              <a:rPr lang="en-US" sz="1700" b="1" dirty="0">
                <a:solidFill>
                  <a:srgbClr val="0F172A"/>
                </a:solidFill>
              </a:rPr>
              <a:t>Kết quả</a:t>
            </a:r>
            <a:endParaRPr lang="en-US" sz="1700" dirty="0"/>
          </a:p>
        </p:txBody>
      </p:sp>
      <p:sp>
        <p:nvSpPr>
          <p:cNvPr id="27" name="Text 25"/>
          <p:cNvSpPr/>
          <p:nvPr/>
        </p:nvSpPr>
        <p:spPr>
          <a:xfrm>
            <a:off x="6355080" y="2423160"/>
            <a:ext cx="731520" cy="320040"/>
          </a:xfrm>
          <a:prstGeom prst="rect">
            <a:avLst/>
          </a:prstGeom>
          <a:noFill/>
          <a:ln/>
        </p:spPr>
        <p:txBody>
          <a:bodyPr wrap="square" lIns="0" tIns="0" rIns="0" bIns="0" rtlCol="0" anchor="ctr"/>
          <a:lstStyle/>
          <a:p>
            <a:pPr marL="0" indent="0" algn="ctr">
              <a:buNone/>
            </a:pPr>
            <a:r>
              <a:rPr lang="en-US" sz="2400" b="1" dirty="0">
                <a:solidFill>
                  <a:srgbClr val="1A56DB"/>
                </a:solidFill>
              </a:rPr>
              <a:t>25</a:t>
            </a:r>
            <a:endParaRPr lang="en-US" sz="2400" dirty="0"/>
          </a:p>
        </p:txBody>
      </p:sp>
      <p:sp>
        <p:nvSpPr>
          <p:cNvPr id="28" name="Text 26"/>
          <p:cNvSpPr/>
          <p:nvPr/>
        </p:nvSpPr>
        <p:spPr>
          <a:xfrm>
            <a:off x="7159752" y="2532888"/>
            <a:ext cx="1051560" cy="137160"/>
          </a:xfrm>
          <a:prstGeom prst="rect">
            <a:avLst/>
          </a:prstGeom>
          <a:noFill/>
          <a:ln/>
        </p:spPr>
        <p:txBody>
          <a:bodyPr wrap="square" lIns="0" tIns="0" rIns="0" bIns="0" rtlCol="0" anchor="ctr">
            <a:normAutofit/>
          </a:bodyPr>
          <a:lstStyle/>
          <a:p>
            <a:pPr marL="0" indent="0">
              <a:buNone/>
            </a:pPr>
            <a:r>
              <a:rPr lang="en-US" sz="1000" dirty="0">
                <a:solidFill>
                  <a:srgbClr val="64748B"/>
                </a:solidFill>
              </a:rPr>
              <a:t>nhân viên mẫu</a:t>
            </a:r>
            <a:endParaRPr lang="en-US" sz="1000" dirty="0"/>
          </a:p>
        </p:txBody>
      </p:sp>
      <p:sp>
        <p:nvSpPr>
          <p:cNvPr id="29" name="Text 27"/>
          <p:cNvSpPr/>
          <p:nvPr/>
        </p:nvSpPr>
        <p:spPr>
          <a:xfrm>
            <a:off x="8503920" y="2423160"/>
            <a:ext cx="731520" cy="320040"/>
          </a:xfrm>
          <a:prstGeom prst="rect">
            <a:avLst/>
          </a:prstGeom>
          <a:noFill/>
          <a:ln/>
        </p:spPr>
        <p:txBody>
          <a:bodyPr wrap="square" lIns="0" tIns="0" rIns="0" bIns="0" rtlCol="0" anchor="ctr"/>
          <a:lstStyle/>
          <a:p>
            <a:pPr marL="0" indent="0" algn="ctr">
              <a:buNone/>
            </a:pPr>
            <a:r>
              <a:rPr lang="en-US" sz="2400" b="1" dirty="0">
                <a:solidFill>
                  <a:srgbClr val="10B981"/>
                </a:solidFill>
              </a:rPr>
              <a:t>5</a:t>
            </a:r>
            <a:endParaRPr lang="en-US" sz="2400" dirty="0"/>
          </a:p>
        </p:txBody>
      </p:sp>
      <p:sp>
        <p:nvSpPr>
          <p:cNvPr id="30" name="Text 28"/>
          <p:cNvSpPr/>
          <p:nvPr/>
        </p:nvSpPr>
        <p:spPr>
          <a:xfrm>
            <a:off x="9308592" y="2532888"/>
            <a:ext cx="1051560" cy="137160"/>
          </a:xfrm>
          <a:prstGeom prst="rect">
            <a:avLst/>
          </a:prstGeom>
          <a:noFill/>
          <a:ln/>
        </p:spPr>
        <p:txBody>
          <a:bodyPr wrap="square" lIns="0" tIns="0" rIns="0" bIns="0" rtlCol="0" anchor="ctr">
            <a:normAutofit/>
          </a:bodyPr>
          <a:lstStyle/>
          <a:p>
            <a:pPr marL="0" indent="0">
              <a:buNone/>
            </a:pPr>
            <a:r>
              <a:rPr lang="en-US" sz="1000" dirty="0">
                <a:solidFill>
                  <a:srgbClr val="64748B"/>
                </a:solidFill>
              </a:rPr>
              <a:t>phòng ban</a:t>
            </a:r>
            <a:endParaRPr lang="en-US" sz="1000" dirty="0"/>
          </a:p>
        </p:txBody>
      </p:sp>
      <p:sp>
        <p:nvSpPr>
          <p:cNvPr id="31" name="Text 29"/>
          <p:cNvSpPr/>
          <p:nvPr/>
        </p:nvSpPr>
        <p:spPr>
          <a:xfrm>
            <a:off x="6355080" y="3474720"/>
            <a:ext cx="731520" cy="320040"/>
          </a:xfrm>
          <a:prstGeom prst="rect">
            <a:avLst/>
          </a:prstGeom>
          <a:noFill/>
          <a:ln/>
        </p:spPr>
        <p:txBody>
          <a:bodyPr wrap="square" lIns="0" tIns="0" rIns="0" bIns="0" rtlCol="0" anchor="ctr"/>
          <a:lstStyle/>
          <a:p>
            <a:pPr marL="0" indent="0" algn="ctr">
              <a:buNone/>
            </a:pPr>
            <a:r>
              <a:rPr lang="en-US" sz="2400" b="1" dirty="0">
                <a:solidFill>
                  <a:srgbClr val="F59E0B"/>
                </a:solidFill>
              </a:rPr>
              <a:t>4</a:t>
            </a:r>
            <a:endParaRPr lang="en-US" sz="2400" dirty="0"/>
          </a:p>
        </p:txBody>
      </p:sp>
      <p:sp>
        <p:nvSpPr>
          <p:cNvPr id="32" name="Text 30"/>
          <p:cNvSpPr/>
          <p:nvPr/>
        </p:nvSpPr>
        <p:spPr>
          <a:xfrm>
            <a:off x="7159752" y="3584448"/>
            <a:ext cx="1051560" cy="137160"/>
          </a:xfrm>
          <a:prstGeom prst="rect">
            <a:avLst/>
          </a:prstGeom>
          <a:noFill/>
          <a:ln/>
        </p:spPr>
        <p:txBody>
          <a:bodyPr wrap="square" lIns="0" tIns="0" rIns="0" bIns="0" rtlCol="0" anchor="ctr">
            <a:normAutofit/>
          </a:bodyPr>
          <a:lstStyle/>
          <a:p>
            <a:pPr marL="0" indent="0">
              <a:buNone/>
            </a:pPr>
            <a:r>
              <a:rPr lang="en-US" sz="1000" dirty="0">
                <a:solidFill>
                  <a:srgbClr val="64748B"/>
                </a:solidFill>
              </a:rPr>
              <a:t>ca làm việc</a:t>
            </a:r>
            <a:endParaRPr lang="en-US" sz="1000" dirty="0"/>
          </a:p>
        </p:txBody>
      </p:sp>
      <p:sp>
        <p:nvSpPr>
          <p:cNvPr id="33" name="Text 31"/>
          <p:cNvSpPr/>
          <p:nvPr/>
        </p:nvSpPr>
        <p:spPr>
          <a:xfrm>
            <a:off x="8503920" y="3474720"/>
            <a:ext cx="731520" cy="320040"/>
          </a:xfrm>
          <a:prstGeom prst="rect">
            <a:avLst/>
          </a:prstGeom>
          <a:noFill/>
          <a:ln/>
        </p:spPr>
        <p:txBody>
          <a:bodyPr wrap="square" lIns="0" tIns="0" rIns="0" bIns="0" rtlCol="0" anchor="ctr"/>
          <a:lstStyle/>
          <a:p>
            <a:pPr marL="0" indent="0" algn="ctr">
              <a:buNone/>
            </a:pPr>
            <a:r>
              <a:rPr lang="en-US" sz="2400" b="1" dirty="0">
                <a:solidFill>
                  <a:srgbClr val="8B5CF6"/>
                </a:solidFill>
              </a:rPr>
              <a:t>12+</a:t>
            </a:r>
            <a:endParaRPr lang="en-US" sz="2400" dirty="0"/>
          </a:p>
        </p:txBody>
      </p:sp>
      <p:sp>
        <p:nvSpPr>
          <p:cNvPr id="34" name="Text 32"/>
          <p:cNvSpPr/>
          <p:nvPr/>
        </p:nvSpPr>
        <p:spPr>
          <a:xfrm>
            <a:off x="9308592" y="3584448"/>
            <a:ext cx="1051560" cy="137160"/>
          </a:xfrm>
          <a:prstGeom prst="rect">
            <a:avLst/>
          </a:prstGeom>
          <a:noFill/>
          <a:ln/>
        </p:spPr>
        <p:txBody>
          <a:bodyPr wrap="square" lIns="0" tIns="0" rIns="0" bIns="0" rtlCol="0" anchor="ctr">
            <a:normAutofit/>
          </a:bodyPr>
          <a:lstStyle/>
          <a:p>
            <a:pPr marL="0" indent="0">
              <a:buNone/>
            </a:pPr>
            <a:r>
              <a:rPr lang="en-US" sz="1000" dirty="0">
                <a:solidFill>
                  <a:srgbClr val="64748B"/>
                </a:solidFill>
              </a:rPr>
              <a:t>use case / test case chính</a:t>
            </a:r>
            <a:endParaRPr lang="en-US" sz="1000" dirty="0"/>
          </a:p>
        </p:txBody>
      </p:sp>
      <p:sp>
        <p:nvSpPr>
          <p:cNvPr id="35" name="Shape 33"/>
          <p:cNvSpPr/>
          <p:nvPr/>
        </p:nvSpPr>
        <p:spPr>
          <a:xfrm>
            <a:off x="6355080" y="4572000"/>
            <a:ext cx="3840480" cy="384048"/>
          </a:xfrm>
          <a:prstGeom prst="roundRect">
            <a:avLst>
              <a:gd name="adj" fmla="val 11905"/>
            </a:avLst>
          </a:prstGeom>
          <a:solidFill>
            <a:srgbClr val="F0FDF4"/>
          </a:solidFill>
          <a:ln w="12700">
            <a:solidFill>
              <a:srgbClr val="BBF7D0"/>
            </a:solidFill>
            <a:prstDash val="solid"/>
          </a:ln>
        </p:spPr>
      </p:sp>
      <p:sp>
        <p:nvSpPr>
          <p:cNvPr id="36" name="Text 34"/>
          <p:cNvSpPr/>
          <p:nvPr/>
        </p:nvSpPr>
        <p:spPr>
          <a:xfrm>
            <a:off x="6565392" y="4718304"/>
            <a:ext cx="3429000" cy="91440"/>
          </a:xfrm>
          <a:prstGeom prst="rect">
            <a:avLst/>
          </a:prstGeom>
          <a:noFill/>
          <a:ln/>
        </p:spPr>
        <p:txBody>
          <a:bodyPr wrap="square" lIns="0" tIns="0" rIns="0" bIns="0" rtlCol="0" anchor="ctr">
            <a:normAutofit/>
          </a:bodyPr>
          <a:lstStyle/>
          <a:p>
            <a:pPr marL="0" indent="0">
              <a:buNone/>
            </a:pPr>
            <a:r>
              <a:rPr lang="en-US" sz="940" b="1" dirty="0">
                <a:solidFill>
                  <a:srgbClr val="0F766E"/>
                </a:solidFill>
              </a:rPr>
              <a:t>Đã cập nhật repo GitHub với bản code và báo cáo cuối.</a:t>
            </a:r>
            <a:endParaRPr lang="en-US" sz="940" dirty="0"/>
          </a:p>
        </p:txBody>
      </p:sp>
      <p:sp>
        <p:nvSpPr>
          <p:cNvPr id="37"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292608"/>
            <a:ext cx="7315200" cy="201168"/>
          </a:xfrm>
          <a:prstGeom prst="rect">
            <a:avLst/>
          </a:prstGeom>
          <a:noFill/>
          <a:ln/>
        </p:spPr>
        <p:txBody>
          <a:bodyPr wrap="square" lIns="0" tIns="0" rIns="0" bIns="0" rtlCol="0" anchor="ctr"/>
          <a:lstStyle/>
          <a:p>
            <a:pPr marL="0" indent="0">
              <a:buNone/>
            </a:pPr>
            <a:r>
              <a:rPr lang="en-US" sz="850" b="1" dirty="0">
                <a:solidFill>
                  <a:srgbClr val="1A56DB"/>
                </a:solidFill>
                <a:latin typeface="Arial" pitchFamily="34" charset="0"/>
                <a:ea typeface="Arial" pitchFamily="34" charset="-122"/>
                <a:cs typeface="Arial" pitchFamily="34" charset="-120"/>
              </a:rPr>
              <a:t>10 · MỞ RỘNG</a:t>
            </a:r>
            <a:endParaRPr lang="en-US" sz="850" dirty="0"/>
          </a:p>
        </p:txBody>
      </p:sp>
      <p:sp>
        <p:nvSpPr>
          <p:cNvPr id="3" name="Text 1"/>
          <p:cNvSpPr/>
          <p:nvPr/>
        </p:nvSpPr>
        <p:spPr>
          <a:xfrm>
            <a:off x="640080" y="566928"/>
            <a:ext cx="10789920" cy="438912"/>
          </a:xfrm>
          <a:prstGeom prst="rect">
            <a:avLst/>
          </a:prstGeom>
          <a:noFill/>
          <a:ln/>
        </p:spPr>
        <p:txBody>
          <a:bodyPr wrap="square" lIns="0" tIns="0" rIns="0" bIns="0" rtlCol="0" anchor="ctr">
            <a:normAutofit/>
          </a:bodyPr>
          <a:lstStyle/>
          <a:p>
            <a:pPr marL="0" indent="0">
              <a:buNone/>
            </a:pPr>
            <a:r>
              <a:rPr lang="en-US" sz="2500" b="1" dirty="0">
                <a:solidFill>
                  <a:srgbClr val="0F172A"/>
                </a:solidFill>
                <a:latin typeface="Arial" pitchFamily="34" charset="0"/>
                <a:ea typeface="Arial" pitchFamily="34" charset="-122"/>
                <a:cs typeface="Arial" pitchFamily="34" charset="-120"/>
              </a:rPr>
              <a:t>Hạn chế và hướng phát triển</a:t>
            </a:r>
            <a:endParaRPr lang="en-US" sz="2500" dirty="0"/>
          </a:p>
        </p:txBody>
      </p:sp>
      <p:sp>
        <p:nvSpPr>
          <p:cNvPr id="4" name="Text 2"/>
          <p:cNvSpPr/>
          <p:nvPr/>
        </p:nvSpPr>
        <p:spPr>
          <a:xfrm>
            <a:off x="658368" y="1033272"/>
            <a:ext cx="9692640" cy="384048"/>
          </a:xfrm>
          <a:prstGeom prst="rect">
            <a:avLst/>
          </a:prstGeom>
          <a:noFill/>
          <a:ln/>
        </p:spPr>
        <p:txBody>
          <a:bodyPr wrap="square" lIns="0" tIns="0" rIns="0" bIns="0" rtlCol="0" anchor="ctr">
            <a:normAutofit/>
          </a:bodyPr>
          <a:lstStyle/>
          <a:p>
            <a:pPr marL="0" indent="0">
              <a:buNone/>
            </a:pPr>
            <a:r>
              <a:rPr lang="en-US" sz="1350" dirty="0">
                <a:solidFill>
                  <a:srgbClr val="64748B"/>
                </a:solidFill>
                <a:latin typeface="Arial" pitchFamily="34" charset="0"/>
                <a:ea typeface="Arial" pitchFamily="34" charset="-122"/>
                <a:cs typeface="Arial" pitchFamily="34" charset="-120"/>
              </a:rPr>
              <a:t>Bản hiện tại phù hợp demo frontend; phiên bản thực tế cần thêm backend, cơ sở dữ liệu và bảo mật server-side.</a:t>
            </a:r>
            <a:endParaRPr lang="en-US" sz="1350" dirty="0"/>
          </a:p>
        </p:txBody>
      </p:sp>
      <p:sp>
        <p:nvSpPr>
          <p:cNvPr id="5" name="Shape 3"/>
          <p:cNvSpPr/>
          <p:nvPr/>
        </p:nvSpPr>
        <p:spPr>
          <a:xfrm>
            <a:off x="731520" y="1691640"/>
            <a:ext cx="4983480" cy="4114800"/>
          </a:xfrm>
          <a:prstGeom prst="roundRect">
            <a:avLst>
              <a:gd name="adj" fmla="val 1556"/>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6" name="Text 4"/>
          <p:cNvSpPr/>
          <p:nvPr/>
        </p:nvSpPr>
        <p:spPr>
          <a:xfrm>
            <a:off x="1051560" y="1993392"/>
            <a:ext cx="2377440" cy="228600"/>
          </a:xfrm>
          <a:prstGeom prst="rect">
            <a:avLst/>
          </a:prstGeom>
          <a:noFill/>
          <a:ln/>
        </p:spPr>
        <p:txBody>
          <a:bodyPr wrap="square" lIns="0" tIns="0" rIns="0" bIns="0" rtlCol="0" anchor="ctr"/>
          <a:lstStyle/>
          <a:p>
            <a:pPr marL="0" indent="0">
              <a:buNone/>
            </a:pPr>
            <a:r>
              <a:rPr lang="en-US" sz="1700" b="1" dirty="0">
                <a:solidFill>
                  <a:srgbClr val="EF4444"/>
                </a:solidFill>
              </a:rPr>
              <a:t>Hạn chế hiện tại</a:t>
            </a:r>
            <a:endParaRPr lang="en-US" sz="1700" dirty="0"/>
          </a:p>
        </p:txBody>
      </p:sp>
      <p:sp>
        <p:nvSpPr>
          <p:cNvPr id="7" name="Text 5"/>
          <p:cNvSpPr/>
          <p:nvPr/>
        </p:nvSpPr>
        <p:spPr>
          <a:xfrm>
            <a:off x="1143000" y="2542032"/>
            <a:ext cx="3931920" cy="310896"/>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Chưa có backend/API thật.</a:t>
            </a:r>
            <a:endParaRPr lang="en-US" sz="1220" dirty="0"/>
          </a:p>
        </p:txBody>
      </p:sp>
      <p:sp>
        <p:nvSpPr>
          <p:cNvPr id="8" name="Text 6"/>
          <p:cNvSpPr/>
          <p:nvPr/>
        </p:nvSpPr>
        <p:spPr>
          <a:xfrm>
            <a:off x="1143000" y="3017520"/>
            <a:ext cx="3931920" cy="310896"/>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Mật khẩu demo lưu ở frontend.</a:t>
            </a:r>
            <a:endParaRPr lang="en-US" sz="1220" dirty="0"/>
          </a:p>
        </p:txBody>
      </p:sp>
      <p:sp>
        <p:nvSpPr>
          <p:cNvPr id="9" name="Text 7"/>
          <p:cNvSpPr/>
          <p:nvPr/>
        </p:nvSpPr>
        <p:spPr>
          <a:xfrm>
            <a:off x="1143000" y="3493008"/>
            <a:ext cx="3931920" cy="310896"/>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localStorage chưa phù hợp dữ liệu sản xuất.</a:t>
            </a:r>
            <a:endParaRPr lang="en-US" sz="1220" dirty="0"/>
          </a:p>
        </p:txBody>
      </p:sp>
      <p:sp>
        <p:nvSpPr>
          <p:cNvPr id="10" name="Text 8"/>
          <p:cNvSpPr/>
          <p:nvPr/>
        </p:nvSpPr>
        <p:spPr>
          <a:xfrm>
            <a:off x="1143000" y="3968496"/>
            <a:ext cx="3931920" cy="310896"/>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Chưa tích hợp máy chấm công thật.</a:t>
            </a:r>
            <a:endParaRPr lang="en-US" sz="1220" dirty="0"/>
          </a:p>
        </p:txBody>
      </p:sp>
      <p:sp>
        <p:nvSpPr>
          <p:cNvPr id="11" name="Shape 9"/>
          <p:cNvSpPr/>
          <p:nvPr/>
        </p:nvSpPr>
        <p:spPr>
          <a:xfrm>
            <a:off x="6355080" y="1691640"/>
            <a:ext cx="4983480" cy="4114800"/>
          </a:xfrm>
          <a:prstGeom prst="roundRect">
            <a:avLst>
              <a:gd name="adj" fmla="val 1556"/>
            </a:avLst>
          </a:prstGeom>
          <a:solidFill>
            <a:srgbClr val="FFFFFF"/>
          </a:solidFill>
          <a:ln w="12700">
            <a:solidFill>
              <a:srgbClr val="E2E8F0"/>
            </a:solidFill>
            <a:prstDash val="solid"/>
          </a:ln>
          <a:effectLst>
            <a:outerShdw blurRad="12700" dist="50800" dir="2700000" algn="bl" rotWithShape="0">
              <a:srgbClr val="CBD5E1">
                <a:alpha val="13000"/>
              </a:srgbClr>
            </a:outerShdw>
          </a:effectLst>
        </p:spPr>
      </p:sp>
      <p:sp>
        <p:nvSpPr>
          <p:cNvPr id="12" name="Text 10"/>
          <p:cNvSpPr/>
          <p:nvPr/>
        </p:nvSpPr>
        <p:spPr>
          <a:xfrm>
            <a:off x="6675120" y="1993392"/>
            <a:ext cx="2377440" cy="228600"/>
          </a:xfrm>
          <a:prstGeom prst="rect">
            <a:avLst/>
          </a:prstGeom>
          <a:noFill/>
          <a:ln/>
        </p:spPr>
        <p:txBody>
          <a:bodyPr wrap="square" lIns="0" tIns="0" rIns="0" bIns="0" rtlCol="0" anchor="ctr"/>
          <a:lstStyle/>
          <a:p>
            <a:pPr marL="0" indent="0">
              <a:buNone/>
            </a:pPr>
            <a:r>
              <a:rPr lang="en-US" sz="1700" b="1" dirty="0">
                <a:solidFill>
                  <a:srgbClr val="10B981"/>
                </a:solidFill>
              </a:rPr>
              <a:t>Hướng phát triển</a:t>
            </a:r>
            <a:endParaRPr lang="en-US" sz="1700" dirty="0"/>
          </a:p>
        </p:txBody>
      </p:sp>
      <p:sp>
        <p:nvSpPr>
          <p:cNvPr id="13" name="Text 11"/>
          <p:cNvSpPr/>
          <p:nvPr/>
        </p:nvSpPr>
        <p:spPr>
          <a:xfrm>
            <a:off x="6766560" y="2542032"/>
            <a:ext cx="3931920" cy="283464"/>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Node.js/Express REST API.</a:t>
            </a:r>
            <a:endParaRPr lang="en-US" sz="1220" dirty="0"/>
          </a:p>
        </p:txBody>
      </p:sp>
      <p:sp>
        <p:nvSpPr>
          <p:cNvPr id="14" name="Text 12"/>
          <p:cNvSpPr/>
          <p:nvPr/>
        </p:nvSpPr>
        <p:spPr>
          <a:xfrm>
            <a:off x="6766560" y="2971800"/>
            <a:ext cx="3931920" cy="283464"/>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MySQL/MongoDB/Firebase.</a:t>
            </a:r>
            <a:endParaRPr lang="en-US" sz="1220" dirty="0"/>
          </a:p>
        </p:txBody>
      </p:sp>
      <p:sp>
        <p:nvSpPr>
          <p:cNvPr id="15" name="Text 13"/>
          <p:cNvSpPr/>
          <p:nvPr/>
        </p:nvSpPr>
        <p:spPr>
          <a:xfrm>
            <a:off x="6766560" y="3401568"/>
            <a:ext cx="3931920" cy="283464"/>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JWT + phân quyền phía server.</a:t>
            </a:r>
            <a:endParaRPr lang="en-US" sz="1220" dirty="0"/>
          </a:p>
        </p:txBody>
      </p:sp>
      <p:sp>
        <p:nvSpPr>
          <p:cNvPr id="16" name="Text 14"/>
          <p:cNvSpPr/>
          <p:nvPr/>
        </p:nvSpPr>
        <p:spPr>
          <a:xfrm>
            <a:off x="6766560" y="3831336"/>
            <a:ext cx="3931920" cy="283464"/>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Nhập/xuất Excel, email thông báo.</a:t>
            </a:r>
            <a:endParaRPr lang="en-US" sz="1220" dirty="0"/>
          </a:p>
        </p:txBody>
      </p:sp>
      <p:sp>
        <p:nvSpPr>
          <p:cNvPr id="17" name="Text 15"/>
          <p:cNvSpPr/>
          <p:nvPr/>
        </p:nvSpPr>
        <p:spPr>
          <a:xfrm>
            <a:off x="6766560" y="4261104"/>
            <a:ext cx="3931920" cy="283464"/>
          </a:xfrm>
          <a:prstGeom prst="rect">
            <a:avLst/>
          </a:prstGeom>
          <a:noFill/>
          <a:ln/>
        </p:spPr>
        <p:txBody>
          <a:bodyPr wrap="square" lIns="0" tIns="0" rIns="0" bIns="0" rtlCol="0" anchor="ctr">
            <a:normAutofit/>
          </a:bodyPr>
          <a:lstStyle/>
          <a:p>
            <a:r>
              <a:rPr lang="en-US" sz="1220" dirty="0">
                <a:solidFill>
                  <a:srgbClr val="1E293B"/>
                </a:solidFill>
                <a:latin typeface="Arial" pitchFamily="34" charset="0"/>
                <a:ea typeface="Arial" pitchFamily="34" charset="-122"/>
                <a:cs typeface="Arial" pitchFamily="34" charset="-120"/>
              </a:rPr>
              <a:t>Quản lý nghỉ phép và lịch làm nâng cao.</a:t>
            </a:r>
            <a:endParaRPr lang="en-US" sz="1220" dirty="0"/>
          </a:p>
        </p:txBody>
      </p:sp>
      <p:sp>
        <p:nvSpPr>
          <p:cNvPr id="2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333333">
                <a:alpha val="0"/>
              </a:srgbClr>
            </a:solidFill>
            <a:prstDash val="solid"/>
          </a:ln>
        </p:spPr>
      </p:sp>
      <p:sp>
        <p:nvSpPr>
          <p:cNvPr id="3" name="Text 1"/>
          <p:cNvSpPr/>
          <p:nvPr/>
        </p:nvSpPr>
        <p:spPr>
          <a:xfrm>
            <a:off x="749808" y="749808"/>
            <a:ext cx="2926080" cy="411480"/>
          </a:xfrm>
          <a:prstGeom prst="rect">
            <a:avLst/>
          </a:prstGeom>
          <a:noFill/>
          <a:ln/>
        </p:spPr>
        <p:txBody>
          <a:bodyPr wrap="square" lIns="0" tIns="0" rIns="0" bIns="0" rtlCol="0" anchor="ctr"/>
          <a:lstStyle/>
          <a:p>
            <a:pPr marL="0" indent="0">
              <a:buNone/>
            </a:pPr>
            <a:r>
              <a:rPr lang="en-US" sz="3000" b="1" dirty="0">
                <a:solidFill>
                  <a:srgbClr val="FFFFFF"/>
                </a:solidFill>
              </a:rPr>
              <a:t>Kết luận</a:t>
            </a:r>
            <a:endParaRPr lang="en-US" sz="3000" dirty="0"/>
          </a:p>
        </p:txBody>
      </p:sp>
      <p:sp>
        <p:nvSpPr>
          <p:cNvPr id="4" name="Text 2"/>
          <p:cNvSpPr/>
          <p:nvPr/>
        </p:nvSpPr>
        <p:spPr>
          <a:xfrm>
            <a:off x="804672" y="1417320"/>
            <a:ext cx="9875520" cy="658368"/>
          </a:xfrm>
          <a:prstGeom prst="rect">
            <a:avLst/>
          </a:prstGeom>
          <a:noFill/>
          <a:ln/>
        </p:spPr>
        <p:txBody>
          <a:bodyPr wrap="square" lIns="0" tIns="0" rIns="0" bIns="0" rtlCol="0" anchor="ctr">
            <a:normAutofit/>
          </a:bodyPr>
          <a:lstStyle/>
          <a:p>
            <a:pPr marL="0" indent="0">
              <a:buNone/>
            </a:pPr>
            <a:r>
              <a:rPr lang="en-US" sz="1800" dirty="0">
                <a:solidFill>
                  <a:srgbClr val="CBD5E1"/>
                </a:solidFill>
              </a:rPr>
              <a:t>HRPro đã mô phỏng được một hệ thống quản lý nhân sự cơ bản, có khả năng mở rộng và thể hiện rõ luồng nghiệp vụ từ nhân viên → ca làm → chấm công → lương/KPI/báo cáo.</a:t>
            </a:r>
            <a:endParaRPr lang="en-US" sz="1800" dirty="0"/>
          </a:p>
        </p:txBody>
      </p:sp>
      <p:sp>
        <p:nvSpPr>
          <p:cNvPr id="5" name="Shape 3"/>
          <p:cNvSpPr/>
          <p:nvPr/>
        </p:nvSpPr>
        <p:spPr>
          <a:xfrm>
            <a:off x="822960" y="2880360"/>
            <a:ext cx="2971800" cy="1325880"/>
          </a:xfrm>
          <a:prstGeom prst="roundRect">
            <a:avLst>
              <a:gd name="adj" fmla="val 5517"/>
            </a:avLst>
          </a:prstGeom>
          <a:solidFill>
            <a:srgbClr val="1E293B"/>
          </a:solidFill>
          <a:ln w="12700">
            <a:solidFill>
              <a:srgbClr val="334155"/>
            </a:solidFill>
            <a:prstDash val="solid"/>
          </a:ln>
        </p:spPr>
      </p:sp>
      <p:sp>
        <p:nvSpPr>
          <p:cNvPr id="6" name="Text 4"/>
          <p:cNvSpPr/>
          <p:nvPr/>
        </p:nvSpPr>
        <p:spPr>
          <a:xfrm>
            <a:off x="1024128" y="3154680"/>
            <a:ext cx="365760" cy="27432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7" name="Text 5"/>
          <p:cNvSpPr/>
          <p:nvPr/>
        </p:nvSpPr>
        <p:spPr>
          <a:xfrm>
            <a:off x="1508760" y="3090672"/>
            <a:ext cx="1920240" cy="182880"/>
          </a:xfrm>
          <a:prstGeom prst="rect">
            <a:avLst/>
          </a:prstGeom>
          <a:noFill/>
          <a:ln/>
        </p:spPr>
        <p:txBody>
          <a:bodyPr wrap="square" lIns="0" tIns="0" rIns="0" bIns="0" rtlCol="0" anchor="ctr">
            <a:normAutofit/>
          </a:bodyPr>
          <a:lstStyle/>
          <a:p>
            <a:pPr marL="0" indent="0">
              <a:buNone/>
            </a:pPr>
            <a:r>
              <a:rPr lang="en-US" sz="1350" b="1" dirty="0">
                <a:solidFill>
                  <a:srgbClr val="FFFFFF"/>
                </a:solidFill>
              </a:rPr>
              <a:t>Nghiệp vụ đầy đủ</a:t>
            </a:r>
            <a:endParaRPr lang="en-US" sz="1350" dirty="0"/>
          </a:p>
        </p:txBody>
      </p:sp>
      <p:sp>
        <p:nvSpPr>
          <p:cNvPr id="8" name="Text 6"/>
          <p:cNvSpPr/>
          <p:nvPr/>
        </p:nvSpPr>
        <p:spPr>
          <a:xfrm>
            <a:off x="1508760" y="3438144"/>
            <a:ext cx="1965960" cy="347472"/>
          </a:xfrm>
          <a:prstGeom prst="rect">
            <a:avLst/>
          </a:prstGeom>
          <a:noFill/>
          <a:ln/>
        </p:spPr>
        <p:txBody>
          <a:bodyPr wrap="square" lIns="0" tIns="0" rIns="0" bIns="0" rtlCol="0" anchor="ctr">
            <a:normAutofit/>
          </a:bodyPr>
          <a:lstStyle/>
          <a:p>
            <a:pPr marL="0" indent="0">
              <a:buNone/>
            </a:pPr>
            <a:r>
              <a:rPr lang="en-US" sz="1050" dirty="0">
                <a:solidFill>
                  <a:srgbClr val="CBD5E1"/>
                </a:solidFill>
              </a:rPr>
              <a:t>Nhân viên, phòng ban, ca, công, lương, KPI</a:t>
            </a:r>
            <a:endParaRPr lang="en-US" sz="1050" dirty="0"/>
          </a:p>
        </p:txBody>
      </p:sp>
      <p:sp>
        <p:nvSpPr>
          <p:cNvPr id="9" name="Shape 7"/>
          <p:cNvSpPr/>
          <p:nvPr/>
        </p:nvSpPr>
        <p:spPr>
          <a:xfrm>
            <a:off x="4498848" y="2880360"/>
            <a:ext cx="2971800" cy="1325880"/>
          </a:xfrm>
          <a:prstGeom prst="roundRect">
            <a:avLst>
              <a:gd name="adj" fmla="val 5517"/>
            </a:avLst>
          </a:prstGeom>
          <a:solidFill>
            <a:srgbClr val="1E293B"/>
          </a:solidFill>
          <a:ln w="12700">
            <a:solidFill>
              <a:srgbClr val="334155"/>
            </a:solidFill>
            <a:prstDash val="solid"/>
          </a:ln>
        </p:spPr>
      </p:sp>
      <p:sp>
        <p:nvSpPr>
          <p:cNvPr id="10" name="Text 8"/>
          <p:cNvSpPr/>
          <p:nvPr/>
        </p:nvSpPr>
        <p:spPr>
          <a:xfrm>
            <a:off x="4700016" y="3154680"/>
            <a:ext cx="365760" cy="27432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1" name="Text 9"/>
          <p:cNvSpPr/>
          <p:nvPr/>
        </p:nvSpPr>
        <p:spPr>
          <a:xfrm>
            <a:off x="5184648" y="3090672"/>
            <a:ext cx="1920240" cy="182880"/>
          </a:xfrm>
          <a:prstGeom prst="rect">
            <a:avLst/>
          </a:prstGeom>
          <a:noFill/>
          <a:ln/>
        </p:spPr>
        <p:txBody>
          <a:bodyPr wrap="square" lIns="0" tIns="0" rIns="0" bIns="0" rtlCol="0" anchor="ctr">
            <a:normAutofit/>
          </a:bodyPr>
          <a:lstStyle/>
          <a:p>
            <a:pPr marL="0" indent="0">
              <a:buNone/>
            </a:pPr>
            <a:r>
              <a:rPr lang="en-US" sz="1350" b="1" dirty="0">
                <a:solidFill>
                  <a:srgbClr val="FFFFFF"/>
                </a:solidFill>
              </a:rPr>
              <a:t>Cập nhật scale tốt hơn</a:t>
            </a:r>
            <a:endParaRPr lang="en-US" sz="1350" dirty="0"/>
          </a:p>
        </p:txBody>
      </p:sp>
      <p:sp>
        <p:nvSpPr>
          <p:cNvPr id="12" name="Text 10"/>
          <p:cNvSpPr/>
          <p:nvPr/>
        </p:nvSpPr>
        <p:spPr>
          <a:xfrm>
            <a:off x="5184648" y="3438144"/>
            <a:ext cx="1965960" cy="347472"/>
          </a:xfrm>
          <a:prstGeom prst="rect">
            <a:avLst/>
          </a:prstGeom>
          <a:noFill/>
          <a:ln/>
        </p:spPr>
        <p:txBody>
          <a:bodyPr wrap="square" lIns="0" tIns="0" rIns="0" bIns="0" rtlCol="0" anchor="ctr">
            <a:normAutofit/>
          </a:bodyPr>
          <a:lstStyle/>
          <a:p>
            <a:pPr marL="0" indent="0">
              <a:buNone/>
            </a:pPr>
            <a:r>
              <a:rPr lang="en-US" sz="1050" dirty="0">
                <a:solidFill>
                  <a:srgbClr val="CBD5E1"/>
                </a:solidFill>
              </a:rPr>
              <a:t>Tách employeeShifts và attendance nhiều record</a:t>
            </a:r>
            <a:endParaRPr lang="en-US" sz="1050" dirty="0"/>
          </a:p>
        </p:txBody>
      </p:sp>
      <p:sp>
        <p:nvSpPr>
          <p:cNvPr id="13" name="Shape 11"/>
          <p:cNvSpPr/>
          <p:nvPr/>
        </p:nvSpPr>
        <p:spPr>
          <a:xfrm>
            <a:off x="8174736" y="2880360"/>
            <a:ext cx="2971800" cy="1325880"/>
          </a:xfrm>
          <a:prstGeom prst="roundRect">
            <a:avLst>
              <a:gd name="adj" fmla="val 5517"/>
            </a:avLst>
          </a:prstGeom>
          <a:solidFill>
            <a:srgbClr val="1E293B"/>
          </a:solidFill>
          <a:ln w="12700">
            <a:solidFill>
              <a:srgbClr val="334155"/>
            </a:solidFill>
            <a:prstDash val="solid"/>
          </a:ln>
        </p:spPr>
      </p:sp>
      <p:sp>
        <p:nvSpPr>
          <p:cNvPr id="14" name="Text 12"/>
          <p:cNvSpPr/>
          <p:nvPr/>
        </p:nvSpPr>
        <p:spPr>
          <a:xfrm>
            <a:off x="8375904" y="3154680"/>
            <a:ext cx="365760" cy="27432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5" name="Text 13"/>
          <p:cNvSpPr/>
          <p:nvPr/>
        </p:nvSpPr>
        <p:spPr>
          <a:xfrm>
            <a:off x="8860536" y="3090672"/>
            <a:ext cx="1920240" cy="182880"/>
          </a:xfrm>
          <a:prstGeom prst="rect">
            <a:avLst/>
          </a:prstGeom>
          <a:noFill/>
          <a:ln/>
        </p:spPr>
        <p:txBody>
          <a:bodyPr wrap="square" lIns="0" tIns="0" rIns="0" bIns="0" rtlCol="0" anchor="ctr">
            <a:normAutofit/>
          </a:bodyPr>
          <a:lstStyle/>
          <a:p>
            <a:pPr marL="0" indent="0">
              <a:buNone/>
            </a:pPr>
            <a:r>
              <a:rPr lang="en-US" sz="1350" b="1" dirty="0">
                <a:solidFill>
                  <a:srgbClr val="FFFFFF"/>
                </a:solidFill>
              </a:rPr>
              <a:t>Sẵn sàng mở rộng</a:t>
            </a:r>
            <a:endParaRPr lang="en-US" sz="1350" dirty="0"/>
          </a:p>
        </p:txBody>
      </p:sp>
      <p:sp>
        <p:nvSpPr>
          <p:cNvPr id="16" name="Text 14"/>
          <p:cNvSpPr/>
          <p:nvPr/>
        </p:nvSpPr>
        <p:spPr>
          <a:xfrm>
            <a:off x="8860536" y="3438144"/>
            <a:ext cx="1965960" cy="347472"/>
          </a:xfrm>
          <a:prstGeom prst="rect">
            <a:avLst/>
          </a:prstGeom>
          <a:noFill/>
          <a:ln/>
        </p:spPr>
        <p:txBody>
          <a:bodyPr wrap="square" lIns="0" tIns="0" rIns="0" bIns="0" rtlCol="0" anchor="ctr">
            <a:normAutofit/>
          </a:bodyPr>
          <a:lstStyle/>
          <a:p>
            <a:pPr marL="0" indent="0">
              <a:buNone/>
            </a:pPr>
            <a:r>
              <a:rPr lang="en-US" sz="1050" dirty="0">
                <a:solidFill>
                  <a:srgbClr val="CBD5E1"/>
                </a:solidFill>
              </a:rPr>
              <a:t>Có nền tảng nâng cấp backend/database</a:t>
            </a:r>
            <a:endParaRPr lang="en-US" sz="1050" dirty="0"/>
          </a:p>
        </p:txBody>
      </p:sp>
      <p:sp>
        <p:nvSpPr>
          <p:cNvPr id="17" name="Text 15"/>
          <p:cNvSpPr/>
          <p:nvPr/>
        </p:nvSpPr>
        <p:spPr>
          <a:xfrm>
            <a:off x="841248" y="5074920"/>
            <a:ext cx="6583680" cy="320040"/>
          </a:xfrm>
          <a:prstGeom prst="rect">
            <a:avLst/>
          </a:prstGeom>
          <a:noFill/>
          <a:ln/>
        </p:spPr>
        <p:txBody>
          <a:bodyPr wrap="square" lIns="0" tIns="0" rIns="0" bIns="0" rtlCol="0" anchor="ctr"/>
          <a:lstStyle/>
          <a:p>
            <a:pPr marL="0" indent="0">
              <a:buNone/>
            </a:pPr>
            <a:r>
              <a:rPr lang="en-US" sz="2200" b="1" dirty="0">
                <a:solidFill>
                  <a:srgbClr val="FFFFFF"/>
                </a:solidFill>
              </a:rPr>
              <a:t>Em xin cảm </a:t>
            </a:r>
            <a:r>
              <a:rPr lang="en-US" sz="2200" b="1" dirty="0" err="1">
                <a:solidFill>
                  <a:srgbClr val="FFFFFF"/>
                </a:solidFill>
              </a:rPr>
              <a:t>ơn</a:t>
            </a:r>
            <a:r>
              <a:rPr lang="en-US" sz="2200" b="1" dirty="0">
                <a:solidFill>
                  <a:srgbClr val="FFFFFF"/>
                </a:solidFill>
              </a:rPr>
              <a:t> </a:t>
            </a:r>
            <a:r>
              <a:rPr lang="en-US" sz="2200" b="1" dirty="0" err="1">
                <a:solidFill>
                  <a:srgbClr val="FFFFFF"/>
                </a:solidFill>
              </a:rPr>
              <a:t>thầy</a:t>
            </a:r>
            <a:r>
              <a:rPr lang="en-US" sz="2200" b="1" dirty="0">
                <a:solidFill>
                  <a:srgbClr val="FFFFFF"/>
                </a:solidFill>
              </a:rPr>
              <a:t> đã lắng nghe!</a:t>
            </a:r>
            <a:endParaRPr lang="en-US" sz="2200" dirty="0"/>
          </a:p>
        </p:txBody>
      </p:sp>
      <p:sp>
        <p:nvSpPr>
          <p:cNvPr id="18" name="Text 16"/>
          <p:cNvSpPr/>
          <p:nvPr/>
        </p:nvSpPr>
        <p:spPr>
          <a:xfrm>
            <a:off x="841248" y="5504688"/>
            <a:ext cx="7955280" cy="228600"/>
          </a:xfrm>
          <a:prstGeom prst="rect">
            <a:avLst/>
          </a:prstGeom>
          <a:noFill/>
          <a:ln/>
        </p:spPr>
        <p:txBody>
          <a:bodyPr wrap="square" lIns="0" tIns="0" rIns="0" bIns="0" rtlCol="0" anchor="ctr"/>
          <a:lstStyle/>
          <a:p>
            <a:pPr marL="0" indent="0">
              <a:buNone/>
            </a:pPr>
            <a:r>
              <a:rPr lang="en-US" sz="1300" dirty="0">
                <a:solidFill>
                  <a:srgbClr val="93C5FD"/>
                </a:solidFill>
              </a:rPr>
              <a:t>Sẵn sàng trả lời câu hỏi về thiết kế dữ liệu, phân quyền, chấm công và tính lương.</a:t>
            </a:r>
            <a:endParaRPr lang="en-US" sz="1300" dirty="0"/>
          </a:p>
        </p:txBody>
      </p:sp>
      <p:sp>
        <p:nvSpPr>
          <p:cNvPr id="25" name="Slide Number Placeholder 0"/>
          <p:cNvSpPr>
            <a:spLocks noGrp="1"/>
          </p:cNvSpPr>
          <p:nvPr>
            <p:ph type="sldNum" sz="quarter" idx="4294967295"/>
          </p:nvPr>
        </p:nvSpPr>
        <p:spPr>
          <a:xfrm>
            <a:off x="1115568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rial"/>
                <a:ea typeface="Arial"/>
                <a:cs typeface="Arial"/>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2868</Words>
  <Application>Microsoft Office PowerPoint</Application>
  <PresentationFormat>Widescreen</PresentationFormat>
  <Paragraphs>290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Phenikaa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HRPro - Thuyết trình đồ án</dc:title>
  <dc:subject>Phát triển ứng dụng web quản lý nhân sự cho doanh nghiệp</dc:subject>
  <dc:creator>Nguyễn Văn Minh</dc:creator>
  <cp:lastModifiedBy>NGUYỄN minh</cp:lastModifiedBy>
  <cp:revision>2</cp:revision>
  <dcterms:created xsi:type="dcterms:W3CDTF">2026-06-13T18:52:32Z</dcterms:created>
  <dcterms:modified xsi:type="dcterms:W3CDTF">2026-06-13T19:16:37Z</dcterms:modified>
</cp:coreProperties>
</file>